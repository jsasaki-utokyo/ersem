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2" r:id="rId4"/>
  </p:sldMasterIdLst>
  <p:notesMasterIdLst>
    <p:notesMasterId r:id="rId6"/>
  </p:notesMasterIdLst>
  <p:handoutMasterIdLst>
    <p:handoutMasterId r:id="rId7"/>
  </p:handoutMasterIdLst>
  <p:sldIdLst>
    <p:sldId id="1285" r:id="rId5"/>
  </p:sldIdLst>
  <p:sldSz cx="12192000" cy="6858000"/>
  <p:notesSz cx="7102475" cy="10233025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5246"/>
    <a:srgbClr val="DA3C3D"/>
    <a:srgbClr val="1773B2"/>
    <a:srgbClr val="808080"/>
    <a:srgbClr val="B2B2B2"/>
    <a:srgbClr val="CC9900"/>
    <a:srgbClr val="FFFFCC"/>
    <a:srgbClr val="F0F0FF"/>
    <a:srgbClr val="FFCDCD"/>
    <a:srgbClr val="2E5F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7294" autoAdjust="0"/>
    <p:restoredTop sz="91742" autoAdjust="0"/>
  </p:normalViewPr>
  <p:slideViewPr>
    <p:cSldViewPr snapToGrid="0">
      <p:cViewPr varScale="1">
        <p:scale>
          <a:sx n="78" d="100"/>
          <a:sy n="78" d="100"/>
        </p:scale>
        <p:origin x="67" y="274"/>
      </p:cViewPr>
      <p:guideLst/>
    </p:cSldViewPr>
  </p:slideViewPr>
  <p:outlineViewPr>
    <p:cViewPr>
      <p:scale>
        <a:sx n="33" d="100"/>
        <a:sy n="33" d="100"/>
      </p:scale>
      <p:origin x="0" y="-2779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2733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3C02328F-004D-4D3A-9F80-6B7A705D1367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342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1B00887C-0EF1-4AC1-9E9B-79863B12620D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23092" y="9719598"/>
            <a:ext cx="3077739" cy="51342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A420A-BDF0-4775-9670-07D3BFB5E94B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918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1026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58800" y="738919"/>
            <a:ext cx="11099800" cy="938159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58800" y="1736074"/>
            <a:ext cx="11099800" cy="5050779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7114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493500" y="38568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54842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8933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7114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493500" y="38568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54842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211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46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AF030-86AC-4BA0-B9C6-3243C593BCFC}" type="datetimeFigureOut">
              <a:rPr kumimoji="1" lang="ja-JP" altLang="en-US" smtClean="0"/>
              <a:t>2026/9/15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793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1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898525" indent="-441325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3042D7B4-AF03-A043-3B1B-E70AA4C01B82}"/>
              </a:ext>
            </a:extLst>
          </p:cNvPr>
          <p:cNvSpPr/>
          <p:nvPr/>
        </p:nvSpPr>
        <p:spPr>
          <a:xfrm>
            <a:off x="0" y="4262541"/>
            <a:ext cx="12192000" cy="2595459"/>
          </a:xfrm>
          <a:prstGeom prst="rect">
            <a:avLst/>
          </a:prstGeom>
          <a:gradFill>
            <a:gsLst>
              <a:gs pos="0">
                <a:srgbClr val="FFFFCC"/>
              </a:gs>
              <a:gs pos="100000">
                <a:srgbClr val="808080"/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04" name="正方形/長方形 203">
            <a:extLst>
              <a:ext uri="{FF2B5EF4-FFF2-40B4-BE49-F238E27FC236}">
                <a16:creationId xmlns:a16="http://schemas.microsoft.com/office/drawing/2014/main" id="{2330B9B9-50A6-7CF7-7B82-847CC325457A}"/>
              </a:ext>
            </a:extLst>
          </p:cNvPr>
          <p:cNvSpPr/>
          <p:nvPr/>
        </p:nvSpPr>
        <p:spPr>
          <a:xfrm>
            <a:off x="0" y="986541"/>
            <a:ext cx="12192000" cy="3276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FA14750-FD6A-2D6F-58A2-ADEBA9B140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ja-JP" dirty="0"/>
              <a:t>ERSEM</a:t>
            </a:r>
            <a:r>
              <a:rPr lang="ja-JP" altLang="en-US" dirty="0"/>
              <a:t>への硫黄過程等の導入による東京湾モデルへの拡張</a:t>
            </a:r>
          </a:p>
        </p:txBody>
      </p:sp>
      <p:sp>
        <p:nvSpPr>
          <p:cNvPr id="12" name="Rounded Rectangle 10">
            <a:extLst>
              <a:ext uri="{FF2B5EF4-FFF2-40B4-BE49-F238E27FC236}">
                <a16:creationId xmlns:a16="http://schemas.microsoft.com/office/drawing/2014/main" id="{F90B0616-4A0C-5857-F328-C42663BFC60C}"/>
              </a:ext>
            </a:extLst>
          </p:cNvPr>
          <p:cNvSpPr/>
          <p:nvPr/>
        </p:nvSpPr>
        <p:spPr>
          <a:xfrm>
            <a:off x="210114" y="612000"/>
            <a:ext cx="648000" cy="31345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 err="1">
                <a:solidFill>
                  <a:srgbClr val="1A1A1A"/>
                </a:solidFill>
              </a:rPr>
              <a:t>p</a:t>
            </a:r>
            <a:r>
              <a:rPr sz="1200" b="1" dirty="0" err="1">
                <a:solidFill>
                  <a:srgbClr val="1A1A1A"/>
                </a:solidFill>
              </a:rPr>
              <a:t>CO</a:t>
            </a:r>
            <a:r>
              <a:rPr sz="1200" b="1" dirty="0">
                <a:solidFill>
                  <a:srgbClr val="1A1A1A"/>
                </a:solidFill>
              </a:rPr>
              <a:t>₂</a:t>
            </a:r>
          </a:p>
        </p:txBody>
      </p:sp>
      <p:sp>
        <p:nvSpPr>
          <p:cNvPr id="115" name="Rounded Rectangle 12">
            <a:extLst>
              <a:ext uri="{FF2B5EF4-FFF2-40B4-BE49-F238E27FC236}">
                <a16:creationId xmlns:a16="http://schemas.microsoft.com/office/drawing/2014/main" id="{4DD9B565-A718-70F8-75F5-E201A3955F4D}"/>
              </a:ext>
            </a:extLst>
          </p:cNvPr>
          <p:cNvSpPr/>
          <p:nvPr/>
        </p:nvSpPr>
        <p:spPr>
          <a:xfrm>
            <a:off x="229871" y="1396800"/>
            <a:ext cx="648000" cy="324000"/>
          </a:xfrm>
          <a:prstGeom prst="roundRect">
            <a:avLst>
              <a:gd name="adj" fmla="val 18000"/>
            </a:avLst>
          </a:prstGeom>
          <a:noFill/>
          <a:ln w="15875">
            <a:solidFill>
              <a:srgbClr val="2E5F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 b="1" dirty="0" err="1">
                <a:solidFill>
                  <a:srgbClr val="2E5FC0"/>
                </a:solidFill>
              </a:rPr>
              <a:t>p</a:t>
            </a:r>
            <a:r>
              <a:rPr sz="1200" b="1" dirty="0" err="1">
                <a:solidFill>
                  <a:srgbClr val="2E5FC0"/>
                </a:solidFill>
              </a:rPr>
              <a:t>CO</a:t>
            </a:r>
            <a:r>
              <a:rPr sz="1200" b="1" dirty="0">
                <a:solidFill>
                  <a:srgbClr val="2E5FC0"/>
                </a:solidFill>
              </a:rPr>
              <a:t>₂</a:t>
            </a:r>
          </a:p>
        </p:txBody>
      </p:sp>
      <p:sp>
        <p:nvSpPr>
          <p:cNvPr id="118" name="四角形: 角を丸くする 117">
            <a:extLst>
              <a:ext uri="{FF2B5EF4-FFF2-40B4-BE49-F238E27FC236}">
                <a16:creationId xmlns:a16="http://schemas.microsoft.com/office/drawing/2014/main" id="{47F8EC4C-443F-0D01-68F4-F0AE6913AD10}"/>
              </a:ext>
            </a:extLst>
          </p:cNvPr>
          <p:cNvSpPr/>
          <p:nvPr/>
        </p:nvSpPr>
        <p:spPr>
          <a:xfrm>
            <a:off x="226141" y="2253354"/>
            <a:ext cx="720000" cy="1152000"/>
          </a:xfrm>
          <a:prstGeom prst="roundRect">
            <a:avLst/>
          </a:prstGeom>
          <a:solidFill>
            <a:schemeClr val="bg2"/>
          </a:solidFill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H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2</a:t>
            </a:r>
            <a:r>
              <a:rPr lang="en-US" altLang="ja-JP" sz="1200" b="1" dirty="0">
                <a:solidFill>
                  <a:srgbClr val="2E5FC0"/>
                </a:solidFill>
              </a:rPr>
              <a:t>CO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3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|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HCO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3</a:t>
            </a:r>
            <a:r>
              <a:rPr lang="en-US" altLang="ja-JP" sz="1200" b="1" baseline="30000" dirty="0">
                <a:solidFill>
                  <a:srgbClr val="2E5FC0"/>
                </a:solidFill>
              </a:rPr>
              <a:t>-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|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CO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3</a:t>
            </a:r>
            <a:r>
              <a:rPr lang="en-US" altLang="ja-JP" sz="1200" b="1" baseline="30000" dirty="0">
                <a:solidFill>
                  <a:srgbClr val="2E5FC0"/>
                </a:solidFill>
              </a:rPr>
              <a:t>2-</a:t>
            </a:r>
          </a:p>
        </p:txBody>
      </p:sp>
      <p:sp>
        <p:nvSpPr>
          <p:cNvPr id="122" name="四角形: 角を丸くする 121">
            <a:extLst>
              <a:ext uri="{FF2B5EF4-FFF2-40B4-BE49-F238E27FC236}">
                <a16:creationId xmlns:a16="http://schemas.microsoft.com/office/drawing/2014/main" id="{C9E4A366-A3EB-E167-FB9E-D30418A843D4}"/>
              </a:ext>
            </a:extLst>
          </p:cNvPr>
          <p:cNvSpPr/>
          <p:nvPr/>
        </p:nvSpPr>
        <p:spPr>
          <a:xfrm>
            <a:off x="221224" y="3831438"/>
            <a:ext cx="648000" cy="324000"/>
          </a:xfrm>
          <a:prstGeom prst="roundRect">
            <a:avLst/>
          </a:prstGeom>
          <a:noFill/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TA</a:t>
            </a:r>
          </a:p>
        </p:txBody>
      </p:sp>
      <p:sp>
        <p:nvSpPr>
          <p:cNvPr id="124" name="四角形: 角を丸くする 123">
            <a:extLst>
              <a:ext uri="{FF2B5EF4-FFF2-40B4-BE49-F238E27FC236}">
                <a16:creationId xmlns:a16="http://schemas.microsoft.com/office/drawing/2014/main" id="{1014D6C4-4F1C-50C2-850E-F9A7B90D6C22}"/>
              </a:ext>
            </a:extLst>
          </p:cNvPr>
          <p:cNvSpPr/>
          <p:nvPr/>
        </p:nvSpPr>
        <p:spPr>
          <a:xfrm>
            <a:off x="1140541" y="3531551"/>
            <a:ext cx="648000" cy="324000"/>
          </a:xfrm>
          <a:prstGeom prst="roundRect">
            <a:avLst/>
          </a:prstGeom>
          <a:noFill/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DIC</a:t>
            </a:r>
          </a:p>
        </p:txBody>
      </p:sp>
      <p:sp>
        <p:nvSpPr>
          <p:cNvPr id="126" name="四角形: 角を丸くする 125">
            <a:extLst>
              <a:ext uri="{FF2B5EF4-FFF2-40B4-BE49-F238E27FC236}">
                <a16:creationId xmlns:a16="http://schemas.microsoft.com/office/drawing/2014/main" id="{B6660CB9-60A8-1549-8DBA-CEBBAC7A66AF}"/>
              </a:ext>
            </a:extLst>
          </p:cNvPr>
          <p:cNvSpPr/>
          <p:nvPr/>
        </p:nvSpPr>
        <p:spPr>
          <a:xfrm>
            <a:off x="1115960" y="1894477"/>
            <a:ext cx="648000" cy="504000"/>
          </a:xfrm>
          <a:prstGeom prst="roundRect">
            <a:avLst/>
          </a:prstGeom>
          <a:noFill/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pH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  <a:latin typeface="Symbol" panose="05050102010706020507" pitchFamily="18" charset="2"/>
              </a:rPr>
              <a:t>W</a:t>
            </a:r>
          </a:p>
        </p:txBody>
      </p:sp>
      <p:grpSp>
        <p:nvGrpSpPr>
          <p:cNvPr id="169" name="グループ化 168">
            <a:extLst>
              <a:ext uri="{FF2B5EF4-FFF2-40B4-BE49-F238E27FC236}">
                <a16:creationId xmlns:a16="http://schemas.microsoft.com/office/drawing/2014/main" id="{9E23EB2B-80D3-0B0D-6F95-9AA0D000E83A}"/>
              </a:ext>
            </a:extLst>
          </p:cNvPr>
          <p:cNvGrpSpPr/>
          <p:nvPr/>
        </p:nvGrpSpPr>
        <p:grpSpPr>
          <a:xfrm>
            <a:off x="2477729" y="1307688"/>
            <a:ext cx="912412" cy="2163977"/>
            <a:chOff x="1907458" y="1425677"/>
            <a:chExt cx="912412" cy="2163977"/>
          </a:xfrm>
        </p:grpSpPr>
        <p:sp>
          <p:nvSpPr>
            <p:cNvPr id="137" name="四角形: 角を丸くする 136">
              <a:extLst>
                <a:ext uri="{FF2B5EF4-FFF2-40B4-BE49-F238E27FC236}">
                  <a16:creationId xmlns:a16="http://schemas.microsoft.com/office/drawing/2014/main" id="{7C240678-5F9C-9D76-DECA-C6094062DE60}"/>
                </a:ext>
              </a:extLst>
            </p:cNvPr>
            <p:cNvSpPr/>
            <p:nvPr/>
          </p:nvSpPr>
          <p:spPr>
            <a:xfrm>
              <a:off x="1907458" y="1425677"/>
              <a:ext cx="912412" cy="2163977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8" name="四角形: 角を丸くする 127">
              <a:extLst>
                <a:ext uri="{FF2B5EF4-FFF2-40B4-BE49-F238E27FC236}">
                  <a16:creationId xmlns:a16="http://schemas.microsoft.com/office/drawing/2014/main" id="{965A41E4-F9FF-CC53-BD9C-D0977EEC2928}"/>
                </a:ext>
              </a:extLst>
            </p:cNvPr>
            <p:cNvSpPr/>
            <p:nvPr/>
          </p:nvSpPr>
          <p:spPr>
            <a:xfrm>
              <a:off x="2016000" y="1530680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Fe</a:t>
              </a:r>
            </a:p>
          </p:txBody>
        </p:sp>
        <p:sp>
          <p:nvSpPr>
            <p:cNvPr id="130" name="四角形: 角を丸くする 129">
              <a:extLst>
                <a:ext uri="{FF2B5EF4-FFF2-40B4-BE49-F238E27FC236}">
                  <a16:creationId xmlns:a16="http://schemas.microsoft.com/office/drawing/2014/main" id="{DA02D2F2-055E-5E74-D750-43A0934456ED}"/>
                </a:ext>
              </a:extLst>
            </p:cNvPr>
            <p:cNvSpPr/>
            <p:nvPr/>
          </p:nvSpPr>
          <p:spPr>
            <a:xfrm>
              <a:off x="2016000" y="1948552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SiO</a:t>
              </a:r>
              <a:r>
                <a:rPr lang="en-US" altLang="ja-JP" sz="1200" b="1" baseline="-25000" dirty="0">
                  <a:solidFill>
                    <a:srgbClr val="2E5FC0"/>
                  </a:solidFill>
                </a:rPr>
                <a:t>2</a:t>
              </a:r>
              <a:r>
                <a:rPr lang="en-US" altLang="ja-JP" sz="1200" b="1" dirty="0">
                  <a:solidFill>
                    <a:srgbClr val="2E5FC0"/>
                  </a:solidFill>
                </a:rPr>
                <a:t>-Si</a:t>
              </a:r>
            </a:p>
          </p:txBody>
        </p:sp>
        <p:sp>
          <p:nvSpPr>
            <p:cNvPr id="132" name="四角形: 角を丸くする 131">
              <a:extLst>
                <a:ext uri="{FF2B5EF4-FFF2-40B4-BE49-F238E27FC236}">
                  <a16:creationId xmlns:a16="http://schemas.microsoft.com/office/drawing/2014/main" id="{1554D2F2-AF30-1C1F-B296-D4C5B745B99B}"/>
                </a:ext>
              </a:extLst>
            </p:cNvPr>
            <p:cNvSpPr/>
            <p:nvPr/>
          </p:nvSpPr>
          <p:spPr>
            <a:xfrm>
              <a:off x="2016000" y="2356592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PO</a:t>
              </a:r>
              <a:r>
                <a:rPr lang="en-US" altLang="ja-JP" sz="1200" b="1" baseline="-25000" dirty="0">
                  <a:solidFill>
                    <a:srgbClr val="2E5FC0"/>
                  </a:solidFill>
                </a:rPr>
                <a:t>4</a:t>
              </a:r>
              <a:r>
                <a:rPr lang="en-US" altLang="ja-JP" sz="1200" b="1" dirty="0">
                  <a:solidFill>
                    <a:srgbClr val="2E5FC0"/>
                  </a:solidFill>
                </a:rPr>
                <a:t>-P</a:t>
              </a:r>
            </a:p>
          </p:txBody>
        </p:sp>
        <p:sp>
          <p:nvSpPr>
            <p:cNvPr id="134" name="四角形: 角を丸くする 133">
              <a:extLst>
                <a:ext uri="{FF2B5EF4-FFF2-40B4-BE49-F238E27FC236}">
                  <a16:creationId xmlns:a16="http://schemas.microsoft.com/office/drawing/2014/main" id="{06E73C9D-1E8C-62DD-64BE-88F338DADFEE}"/>
                </a:ext>
              </a:extLst>
            </p:cNvPr>
            <p:cNvSpPr/>
            <p:nvPr/>
          </p:nvSpPr>
          <p:spPr>
            <a:xfrm>
              <a:off x="2016000" y="2774465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NO</a:t>
              </a:r>
              <a:r>
                <a:rPr lang="en-US" altLang="ja-JP" sz="1200" b="1" baseline="-25000" dirty="0">
                  <a:solidFill>
                    <a:srgbClr val="2E5FC0"/>
                  </a:solidFill>
                </a:rPr>
                <a:t>3</a:t>
              </a:r>
              <a:r>
                <a:rPr lang="en-US" altLang="ja-JP" sz="1200" b="1" dirty="0">
                  <a:solidFill>
                    <a:srgbClr val="2E5FC0"/>
                  </a:solidFill>
                </a:rPr>
                <a:t>-N</a:t>
              </a:r>
            </a:p>
          </p:txBody>
        </p:sp>
        <p:sp>
          <p:nvSpPr>
            <p:cNvPr id="136" name="四角形: 角を丸くする 135">
              <a:extLst>
                <a:ext uri="{FF2B5EF4-FFF2-40B4-BE49-F238E27FC236}">
                  <a16:creationId xmlns:a16="http://schemas.microsoft.com/office/drawing/2014/main" id="{E0A4F243-03B1-2F55-8421-555DA35C6577}"/>
                </a:ext>
              </a:extLst>
            </p:cNvPr>
            <p:cNvSpPr/>
            <p:nvPr/>
          </p:nvSpPr>
          <p:spPr>
            <a:xfrm>
              <a:off x="2016000" y="3172671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NH</a:t>
              </a:r>
              <a:r>
                <a:rPr lang="en-US" altLang="ja-JP" sz="1200" b="1" baseline="-25000" dirty="0">
                  <a:solidFill>
                    <a:srgbClr val="2E5FC0"/>
                  </a:solidFill>
                </a:rPr>
                <a:t>4</a:t>
              </a:r>
              <a:r>
                <a:rPr lang="en-US" altLang="ja-JP" sz="1200" b="1" dirty="0">
                  <a:solidFill>
                    <a:srgbClr val="2E5FC0"/>
                  </a:solidFill>
                </a:rPr>
                <a:t>-N</a:t>
              </a:r>
            </a:p>
          </p:txBody>
        </p:sp>
      </p:grpSp>
      <p:grpSp>
        <p:nvGrpSpPr>
          <p:cNvPr id="144" name="グループ化 143">
            <a:extLst>
              <a:ext uri="{FF2B5EF4-FFF2-40B4-BE49-F238E27FC236}">
                <a16:creationId xmlns:a16="http://schemas.microsoft.com/office/drawing/2014/main" id="{95572097-45AA-4523-8F7A-F9111C5C405F}"/>
              </a:ext>
            </a:extLst>
          </p:cNvPr>
          <p:cNvGrpSpPr/>
          <p:nvPr/>
        </p:nvGrpSpPr>
        <p:grpSpPr>
          <a:xfrm>
            <a:off x="5034271" y="3176825"/>
            <a:ext cx="3960000" cy="792000"/>
            <a:chOff x="4502096" y="2714696"/>
            <a:chExt cx="3960000" cy="792000"/>
          </a:xfrm>
        </p:grpSpPr>
        <p:sp>
          <p:nvSpPr>
            <p:cNvPr id="19" name="Rounded Rectangle 17">
              <a:extLst>
                <a:ext uri="{FF2B5EF4-FFF2-40B4-BE49-F238E27FC236}">
                  <a16:creationId xmlns:a16="http://schemas.microsoft.com/office/drawing/2014/main" id="{80F7C2AF-C6E3-92A9-7C33-73D51AD9F6E8}"/>
                </a:ext>
              </a:extLst>
            </p:cNvPr>
            <p:cNvSpPr/>
            <p:nvPr/>
          </p:nvSpPr>
          <p:spPr>
            <a:xfrm>
              <a:off x="4502096" y="2714696"/>
              <a:ext cx="3960000" cy="792000"/>
            </a:xfrm>
            <a:prstGeom prst="roundRect">
              <a:avLst>
                <a:gd name="adj" fmla="val 18000"/>
              </a:avLst>
            </a:prstGeom>
            <a:solidFill>
              <a:schemeClr val="accent4">
                <a:lumMod val="20000"/>
                <a:lumOff val="80000"/>
              </a:schemeClr>
            </a:solidFill>
            <a:ln w="158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rgbClr val="2E8B45"/>
                  </a:solidFill>
                </a:rPr>
                <a:t>Consumers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8B45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8B45"/>
                </a:solidFill>
              </a:endParaRPr>
            </a:p>
          </p:txBody>
        </p:sp>
        <p:sp>
          <p:nvSpPr>
            <p:cNvPr id="139" name="Rounded Rectangle 21">
              <a:extLst>
                <a:ext uri="{FF2B5EF4-FFF2-40B4-BE49-F238E27FC236}">
                  <a16:creationId xmlns:a16="http://schemas.microsoft.com/office/drawing/2014/main" id="{D58DB8AD-7130-5CCA-C4C1-244BA9722B95}"/>
                </a:ext>
              </a:extLst>
            </p:cNvPr>
            <p:cNvSpPr/>
            <p:nvPr/>
          </p:nvSpPr>
          <p:spPr>
            <a:xfrm>
              <a:off x="4587121" y="3101871"/>
              <a:ext cx="108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4">
                      <a:lumMod val="75000"/>
                    </a:schemeClr>
                  </a:solidFill>
                </a:rPr>
                <a:t>Heterotrophs</a:t>
              </a:r>
              <a:endParaRPr sz="12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41" name="Rounded Rectangle 21">
              <a:extLst>
                <a:ext uri="{FF2B5EF4-FFF2-40B4-BE49-F238E27FC236}">
                  <a16:creationId xmlns:a16="http://schemas.microsoft.com/office/drawing/2014/main" id="{570E239A-4DE8-1DD7-7073-25C5294839E1}"/>
                </a:ext>
              </a:extLst>
            </p:cNvPr>
            <p:cNvSpPr/>
            <p:nvPr/>
          </p:nvSpPr>
          <p:spPr>
            <a:xfrm>
              <a:off x="5813205" y="2993871"/>
              <a:ext cx="108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 err="1">
                  <a:solidFill>
                    <a:schemeClr val="accent4">
                      <a:lumMod val="75000"/>
                    </a:schemeClr>
                  </a:solidFill>
                </a:rPr>
                <a:t>Microzoopl</a:t>
              </a:r>
              <a:r>
                <a:rPr lang="en-US" sz="1200" b="1" dirty="0">
                  <a:solidFill>
                    <a:schemeClr val="accent4">
                      <a:lumMod val="75000"/>
                    </a:schemeClr>
                  </a:solidFill>
                </a:rPr>
                <a:t>.</a:t>
              </a:r>
              <a:endParaRPr sz="12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  <p:sp>
          <p:nvSpPr>
            <p:cNvPr id="143" name="Rounded Rectangle 21">
              <a:extLst>
                <a:ext uri="{FF2B5EF4-FFF2-40B4-BE49-F238E27FC236}">
                  <a16:creationId xmlns:a16="http://schemas.microsoft.com/office/drawing/2014/main" id="{156262CE-E046-0916-5304-48563201E088}"/>
                </a:ext>
              </a:extLst>
            </p:cNvPr>
            <p:cNvSpPr/>
            <p:nvPr/>
          </p:nvSpPr>
          <p:spPr>
            <a:xfrm>
              <a:off x="7039619" y="2885871"/>
              <a:ext cx="108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 err="1">
                  <a:solidFill>
                    <a:schemeClr val="accent4">
                      <a:lumMod val="75000"/>
                    </a:schemeClr>
                  </a:solidFill>
                </a:rPr>
                <a:t>Mesozoopl</a:t>
              </a:r>
              <a:r>
                <a:rPr lang="en-US" sz="1200" b="1" dirty="0">
                  <a:solidFill>
                    <a:schemeClr val="accent4">
                      <a:lumMod val="75000"/>
                    </a:schemeClr>
                  </a:solidFill>
                </a:rPr>
                <a:t>.</a:t>
              </a:r>
              <a:endParaRPr sz="1200" b="1" dirty="0">
                <a:solidFill>
                  <a:schemeClr val="accent4">
                    <a:lumMod val="75000"/>
                  </a:schemeClr>
                </a:solidFill>
              </a:endParaRPr>
            </a:p>
          </p:txBody>
        </p:sp>
      </p:grpSp>
      <p:grpSp>
        <p:nvGrpSpPr>
          <p:cNvPr id="147" name="グループ化 146">
            <a:extLst>
              <a:ext uri="{FF2B5EF4-FFF2-40B4-BE49-F238E27FC236}">
                <a16:creationId xmlns:a16="http://schemas.microsoft.com/office/drawing/2014/main" id="{0675DC5D-1B00-B8C7-78D6-E2D395590970}"/>
              </a:ext>
            </a:extLst>
          </p:cNvPr>
          <p:cNvGrpSpPr/>
          <p:nvPr/>
        </p:nvGrpSpPr>
        <p:grpSpPr>
          <a:xfrm>
            <a:off x="5034271" y="2134442"/>
            <a:ext cx="1260000" cy="792000"/>
            <a:chOff x="4434721" y="2399911"/>
            <a:chExt cx="1260000" cy="792000"/>
          </a:xfrm>
        </p:grpSpPr>
        <p:sp>
          <p:nvSpPr>
            <p:cNvPr id="23" name="Rounded Rectangle 21">
              <a:extLst>
                <a:ext uri="{FF2B5EF4-FFF2-40B4-BE49-F238E27FC236}">
                  <a16:creationId xmlns:a16="http://schemas.microsoft.com/office/drawing/2014/main" id="{97F30FBD-9745-1D9D-4BA6-0BB6BDDAB8F2}"/>
                </a:ext>
              </a:extLst>
            </p:cNvPr>
            <p:cNvSpPr/>
            <p:nvPr/>
          </p:nvSpPr>
          <p:spPr>
            <a:xfrm>
              <a:off x="4434721" y="2399911"/>
              <a:ext cx="1260000" cy="792000"/>
            </a:xfrm>
            <a:prstGeom prst="roundRect">
              <a:avLst>
                <a:gd name="adj" fmla="val 18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chemeClr val="accent3"/>
                  </a:solidFill>
                </a:rPr>
                <a:t>Microbes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5FC0"/>
                </a:solidFill>
              </a:endParaRPr>
            </a:p>
          </p:txBody>
        </p:sp>
        <p:sp>
          <p:nvSpPr>
            <p:cNvPr id="146" name="Rounded Rectangle 21">
              <a:extLst>
                <a:ext uri="{FF2B5EF4-FFF2-40B4-BE49-F238E27FC236}">
                  <a16:creationId xmlns:a16="http://schemas.microsoft.com/office/drawing/2014/main" id="{7B334A03-7047-3A0B-BD11-5B06C97C05B4}"/>
                </a:ext>
              </a:extLst>
            </p:cNvPr>
            <p:cNvSpPr/>
            <p:nvPr/>
          </p:nvSpPr>
          <p:spPr>
            <a:xfrm>
              <a:off x="4523212" y="2763702"/>
              <a:ext cx="108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3">
                      <a:lumMod val="75000"/>
                    </a:schemeClr>
                  </a:solidFill>
                </a:rPr>
                <a:t>Bacteria</a:t>
              </a:r>
              <a:endParaRPr sz="12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grpSp>
        <p:nvGrpSpPr>
          <p:cNvPr id="166" name="グループ化 165">
            <a:extLst>
              <a:ext uri="{FF2B5EF4-FFF2-40B4-BE49-F238E27FC236}">
                <a16:creationId xmlns:a16="http://schemas.microsoft.com/office/drawing/2014/main" id="{CC3C29E5-84E8-36B3-3ADB-E0974023694B}"/>
              </a:ext>
            </a:extLst>
          </p:cNvPr>
          <p:cNvGrpSpPr/>
          <p:nvPr/>
        </p:nvGrpSpPr>
        <p:grpSpPr>
          <a:xfrm>
            <a:off x="5034271" y="1151369"/>
            <a:ext cx="3960000" cy="792000"/>
            <a:chOff x="4392000" y="1426671"/>
            <a:chExt cx="3960000" cy="792000"/>
          </a:xfrm>
        </p:grpSpPr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BF1F7A24-473E-1C2E-C910-3CBEC04861AD}"/>
                </a:ext>
              </a:extLst>
            </p:cNvPr>
            <p:cNvSpPr/>
            <p:nvPr/>
          </p:nvSpPr>
          <p:spPr>
            <a:xfrm>
              <a:off x="4392000" y="1426671"/>
              <a:ext cx="3960000" cy="792000"/>
            </a:xfrm>
            <a:prstGeom prst="roundRect">
              <a:avLst>
                <a:gd name="adj" fmla="val 18000"/>
              </a:avLst>
            </a:prstGeom>
            <a:solidFill>
              <a:schemeClr val="accent6">
                <a:lumMod val="20000"/>
                <a:lumOff val="80000"/>
              </a:schemeClr>
            </a:solidFill>
            <a:ln w="1587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fontAlgn="t">
                <a:spcBef>
                  <a:spcPts val="0"/>
                </a:spcBef>
                <a:spcAft>
                  <a:spcPts val="0"/>
                </a:spcAft>
              </a:pPr>
              <a:r>
                <a:rPr sz="1400" b="1" dirty="0">
                  <a:solidFill>
                    <a:schemeClr val="accent6"/>
                  </a:solidFill>
                </a:rPr>
                <a:t>Phytoplankton</a:t>
              </a:r>
              <a:r>
                <a:rPr lang="en-US" sz="1400" b="1" dirty="0">
                  <a:solidFill>
                    <a:schemeClr val="accent6"/>
                  </a:solidFill>
                </a:rPr>
                <a:t> (P1, P2, …, </a:t>
              </a:r>
              <a:r>
                <a:rPr lang="en-US" sz="1400" b="1" dirty="0" err="1">
                  <a:solidFill>
                    <a:schemeClr val="accent6"/>
                  </a:solidFill>
                </a:rPr>
                <a:t>Pn</a:t>
              </a:r>
              <a:r>
                <a:rPr lang="en-US" sz="1400" b="1" dirty="0">
                  <a:solidFill>
                    <a:schemeClr val="accent6"/>
                  </a:solidFill>
                </a:rPr>
                <a:t>)</a:t>
              </a:r>
            </a:p>
            <a:p>
              <a:pPr fontAlgn="t"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8B45"/>
                </a:solidFill>
              </a:endParaRPr>
            </a:p>
            <a:p>
              <a:pPr fontAlgn="t"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8B45"/>
                </a:solidFill>
              </a:endParaRPr>
            </a:p>
          </p:txBody>
        </p:sp>
        <p:sp>
          <p:nvSpPr>
            <p:cNvPr id="149" name="Rounded Rectangle 21">
              <a:extLst>
                <a:ext uri="{FF2B5EF4-FFF2-40B4-BE49-F238E27FC236}">
                  <a16:creationId xmlns:a16="http://schemas.microsoft.com/office/drawing/2014/main" id="{45E08DE6-2ABA-8B13-E0C8-E2E0A32CE932}"/>
                </a:ext>
              </a:extLst>
            </p:cNvPr>
            <p:cNvSpPr/>
            <p:nvPr/>
          </p:nvSpPr>
          <p:spPr>
            <a:xfrm>
              <a:off x="4454386" y="1823302"/>
              <a:ext cx="828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 err="1">
                  <a:solidFill>
                    <a:schemeClr val="accent6">
                      <a:lumMod val="75000"/>
                    </a:schemeClr>
                  </a:solidFill>
                </a:rPr>
                <a:t>Picoph</a:t>
              </a:r>
              <a:r>
                <a:rPr lang="en-US" sz="1200" b="1" dirty="0">
                  <a:solidFill>
                    <a:schemeClr val="accent6">
                      <a:lumMod val="75000"/>
                    </a:schemeClr>
                  </a:solidFill>
                </a:rPr>
                <a:t>.</a:t>
              </a:r>
              <a:endParaRPr sz="12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51" name="Rounded Rectangle 21">
              <a:extLst>
                <a:ext uri="{FF2B5EF4-FFF2-40B4-BE49-F238E27FC236}">
                  <a16:creationId xmlns:a16="http://schemas.microsoft.com/office/drawing/2014/main" id="{D7FDA34E-2094-0B74-07A1-A9AF05F4D878}"/>
                </a:ext>
              </a:extLst>
            </p:cNvPr>
            <p:cNvSpPr/>
            <p:nvPr/>
          </p:nvSpPr>
          <p:spPr>
            <a:xfrm>
              <a:off x="5455967" y="1824721"/>
              <a:ext cx="828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 err="1">
                  <a:solidFill>
                    <a:schemeClr val="accent6">
                      <a:lumMod val="75000"/>
                    </a:schemeClr>
                  </a:solidFill>
                </a:rPr>
                <a:t>Nanoph</a:t>
              </a:r>
              <a:r>
                <a:rPr lang="en-US" sz="1200" b="1" dirty="0">
                  <a:solidFill>
                    <a:schemeClr val="accent6">
                      <a:lumMod val="75000"/>
                    </a:schemeClr>
                  </a:solidFill>
                </a:rPr>
                <a:t>.</a:t>
              </a:r>
              <a:endParaRPr sz="12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53" name="Rounded Rectangle 21">
              <a:extLst>
                <a:ext uri="{FF2B5EF4-FFF2-40B4-BE49-F238E27FC236}">
                  <a16:creationId xmlns:a16="http://schemas.microsoft.com/office/drawing/2014/main" id="{97C7958F-2AC6-FFFD-3391-D5C8114EE8DE}"/>
                </a:ext>
              </a:extLst>
            </p:cNvPr>
            <p:cNvSpPr/>
            <p:nvPr/>
          </p:nvSpPr>
          <p:spPr>
            <a:xfrm>
              <a:off x="6447059" y="1823302"/>
              <a:ext cx="828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 err="1">
                  <a:solidFill>
                    <a:schemeClr val="accent6">
                      <a:lumMod val="75000"/>
                    </a:schemeClr>
                  </a:solidFill>
                </a:rPr>
                <a:t>Microph</a:t>
              </a:r>
              <a:r>
                <a:rPr lang="en-US" sz="1200" b="1" dirty="0">
                  <a:solidFill>
                    <a:schemeClr val="accent6">
                      <a:lumMod val="75000"/>
                    </a:schemeClr>
                  </a:solidFill>
                </a:rPr>
                <a:t>.</a:t>
              </a:r>
              <a:endParaRPr sz="12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  <p:sp>
          <p:nvSpPr>
            <p:cNvPr id="155" name="Rounded Rectangle 21">
              <a:extLst>
                <a:ext uri="{FF2B5EF4-FFF2-40B4-BE49-F238E27FC236}">
                  <a16:creationId xmlns:a16="http://schemas.microsoft.com/office/drawing/2014/main" id="{C0E48203-0D9F-8F97-2446-1FB6211F0601}"/>
                </a:ext>
              </a:extLst>
            </p:cNvPr>
            <p:cNvSpPr/>
            <p:nvPr/>
          </p:nvSpPr>
          <p:spPr>
            <a:xfrm>
              <a:off x="7438807" y="1823302"/>
              <a:ext cx="828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6">
                      <a:lumMod val="75000"/>
                    </a:schemeClr>
                  </a:solidFill>
                </a:rPr>
                <a:t>Diatoms</a:t>
              </a:r>
              <a:endParaRPr sz="1200" b="1" dirty="0">
                <a:solidFill>
                  <a:schemeClr val="accent6">
                    <a:lumMod val="75000"/>
                  </a:schemeClr>
                </a:solidFill>
              </a:endParaRPr>
            </a:p>
          </p:txBody>
        </p:sp>
      </p:grpSp>
      <p:grpSp>
        <p:nvGrpSpPr>
          <p:cNvPr id="167" name="グループ化 166">
            <a:extLst>
              <a:ext uri="{FF2B5EF4-FFF2-40B4-BE49-F238E27FC236}">
                <a16:creationId xmlns:a16="http://schemas.microsoft.com/office/drawing/2014/main" id="{DD3ECA68-2212-E174-C836-9E3D149A6029}"/>
              </a:ext>
            </a:extLst>
          </p:cNvPr>
          <p:cNvGrpSpPr/>
          <p:nvPr/>
        </p:nvGrpSpPr>
        <p:grpSpPr>
          <a:xfrm>
            <a:off x="5034271" y="5148033"/>
            <a:ext cx="1260000" cy="1440000"/>
            <a:chOff x="4429805" y="4882562"/>
            <a:chExt cx="1260000" cy="1440000"/>
          </a:xfrm>
        </p:grpSpPr>
        <p:sp>
          <p:nvSpPr>
            <p:cNvPr id="157" name="Rounded Rectangle 21">
              <a:extLst>
                <a:ext uri="{FF2B5EF4-FFF2-40B4-BE49-F238E27FC236}">
                  <a16:creationId xmlns:a16="http://schemas.microsoft.com/office/drawing/2014/main" id="{A9A2D2BA-4646-8DAC-9BEE-10C358A410B2}"/>
                </a:ext>
              </a:extLst>
            </p:cNvPr>
            <p:cNvSpPr/>
            <p:nvPr/>
          </p:nvSpPr>
          <p:spPr>
            <a:xfrm>
              <a:off x="4429805" y="4882562"/>
              <a:ext cx="1260000" cy="1440000"/>
            </a:xfrm>
            <a:prstGeom prst="roundRect">
              <a:avLst>
                <a:gd name="adj" fmla="val 18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chemeClr val="accent3"/>
                  </a:solidFill>
                </a:rPr>
                <a:t>Microbes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5FC0"/>
                </a:solidFill>
              </a:endParaRPr>
            </a:p>
          </p:txBody>
        </p:sp>
        <p:sp>
          <p:nvSpPr>
            <p:cNvPr id="158" name="Rounded Rectangle 21">
              <a:extLst>
                <a:ext uri="{FF2B5EF4-FFF2-40B4-BE49-F238E27FC236}">
                  <a16:creationId xmlns:a16="http://schemas.microsoft.com/office/drawing/2014/main" id="{C34A8DFE-4FAD-8DFE-3B6A-0C62F6218627}"/>
                </a:ext>
              </a:extLst>
            </p:cNvPr>
            <p:cNvSpPr/>
            <p:nvPr/>
          </p:nvSpPr>
          <p:spPr>
            <a:xfrm>
              <a:off x="4518296" y="5246353"/>
              <a:ext cx="1080000" cy="360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3">
                      <a:lumMod val="75000"/>
                    </a:schemeClr>
                  </a:solidFill>
                </a:rPr>
                <a:t>Aerobic Bacteria</a:t>
              </a:r>
              <a:endParaRPr sz="12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160" name="Rounded Rectangle 21">
              <a:extLst>
                <a:ext uri="{FF2B5EF4-FFF2-40B4-BE49-F238E27FC236}">
                  <a16:creationId xmlns:a16="http://schemas.microsoft.com/office/drawing/2014/main" id="{FF65CB1D-5605-1BBC-D6C9-DE86F1F4A992}"/>
                </a:ext>
              </a:extLst>
            </p:cNvPr>
            <p:cNvSpPr/>
            <p:nvPr/>
          </p:nvSpPr>
          <p:spPr>
            <a:xfrm>
              <a:off x="4513379" y="5831373"/>
              <a:ext cx="1080000" cy="360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3">
                      <a:lumMod val="75000"/>
                    </a:schemeClr>
                  </a:solidFill>
                </a:rPr>
                <a:t>Anaerobic Bacteria</a:t>
              </a:r>
              <a:endParaRPr sz="1200" b="1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grpSp>
        <p:nvGrpSpPr>
          <p:cNvPr id="168" name="グループ化 167">
            <a:extLst>
              <a:ext uri="{FF2B5EF4-FFF2-40B4-BE49-F238E27FC236}">
                <a16:creationId xmlns:a16="http://schemas.microsoft.com/office/drawing/2014/main" id="{AF23F06F-411C-C740-30E9-67157898E713}"/>
              </a:ext>
            </a:extLst>
          </p:cNvPr>
          <p:cNvGrpSpPr/>
          <p:nvPr/>
        </p:nvGrpSpPr>
        <p:grpSpPr>
          <a:xfrm>
            <a:off x="6443969" y="4194466"/>
            <a:ext cx="2556000" cy="1044000"/>
            <a:chOff x="5844201" y="4440265"/>
            <a:chExt cx="2556000" cy="1044000"/>
          </a:xfrm>
        </p:grpSpPr>
        <p:sp>
          <p:nvSpPr>
            <p:cNvPr id="162" name="Rounded Rectangle 17">
              <a:extLst>
                <a:ext uri="{FF2B5EF4-FFF2-40B4-BE49-F238E27FC236}">
                  <a16:creationId xmlns:a16="http://schemas.microsoft.com/office/drawing/2014/main" id="{9A32CBD4-4364-0BB6-4A35-080E339B6FDC}"/>
                </a:ext>
              </a:extLst>
            </p:cNvPr>
            <p:cNvSpPr/>
            <p:nvPr/>
          </p:nvSpPr>
          <p:spPr>
            <a:xfrm>
              <a:off x="5844201" y="4440265"/>
              <a:ext cx="2556000" cy="1044000"/>
            </a:xfrm>
            <a:prstGeom prst="roundRect">
              <a:avLst>
                <a:gd name="adj" fmla="val 18000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1587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chemeClr val="accent5"/>
                  </a:solidFill>
                </a:rPr>
                <a:t>Zoobenthos</a:t>
              </a:r>
              <a:endParaRPr lang="en-US" sz="1400" b="1" dirty="0">
                <a:solidFill>
                  <a:srgbClr val="2E8B45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8B45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8B45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8B45"/>
                </a:solidFill>
              </a:endParaRPr>
            </a:p>
          </p:txBody>
        </p:sp>
        <p:sp>
          <p:nvSpPr>
            <p:cNvPr id="163" name="Rounded Rectangle 21">
              <a:extLst>
                <a:ext uri="{FF2B5EF4-FFF2-40B4-BE49-F238E27FC236}">
                  <a16:creationId xmlns:a16="http://schemas.microsoft.com/office/drawing/2014/main" id="{7061BB26-1667-5DB8-6F47-87C4E006B621}"/>
                </a:ext>
              </a:extLst>
            </p:cNvPr>
            <p:cNvSpPr/>
            <p:nvPr/>
          </p:nvSpPr>
          <p:spPr>
            <a:xfrm>
              <a:off x="5929226" y="4565799"/>
              <a:ext cx="1080000" cy="360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5">
                      <a:lumMod val="75000"/>
                    </a:schemeClr>
                  </a:solidFill>
                </a:rPr>
                <a:t>Suspension Feeders</a:t>
              </a:r>
              <a:endParaRPr sz="1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64" name="Rounded Rectangle 21">
              <a:extLst>
                <a:ext uri="{FF2B5EF4-FFF2-40B4-BE49-F238E27FC236}">
                  <a16:creationId xmlns:a16="http://schemas.microsoft.com/office/drawing/2014/main" id="{05DE343A-DDE7-BAD4-679E-3C4F2DAC30C6}"/>
                </a:ext>
              </a:extLst>
            </p:cNvPr>
            <p:cNvSpPr/>
            <p:nvPr/>
          </p:nvSpPr>
          <p:spPr>
            <a:xfrm>
              <a:off x="5943974" y="5033799"/>
              <a:ext cx="1080000" cy="360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 err="1">
                  <a:solidFill>
                    <a:schemeClr val="accent5">
                      <a:lumMod val="75000"/>
                    </a:schemeClr>
                  </a:solidFill>
                </a:rPr>
                <a:t>Meiobenthos</a:t>
              </a:r>
              <a:endParaRPr sz="1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  <p:sp>
          <p:nvSpPr>
            <p:cNvPr id="165" name="Rounded Rectangle 21">
              <a:extLst>
                <a:ext uri="{FF2B5EF4-FFF2-40B4-BE49-F238E27FC236}">
                  <a16:creationId xmlns:a16="http://schemas.microsoft.com/office/drawing/2014/main" id="{941BEA4D-D9E0-B9EA-DD14-D25B8C7838E6}"/>
                </a:ext>
              </a:extLst>
            </p:cNvPr>
            <p:cNvSpPr/>
            <p:nvPr/>
          </p:nvSpPr>
          <p:spPr>
            <a:xfrm>
              <a:off x="7187759" y="5033799"/>
              <a:ext cx="1080000" cy="360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5">
                      <a:lumMod val="75000"/>
                    </a:schemeClr>
                  </a:solidFill>
                </a:rPr>
                <a:t>Deposit Feeders</a:t>
              </a:r>
              <a:endParaRPr sz="1200" b="1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grpSp>
        <p:nvGrpSpPr>
          <p:cNvPr id="170" name="グループ化 169">
            <a:extLst>
              <a:ext uri="{FF2B5EF4-FFF2-40B4-BE49-F238E27FC236}">
                <a16:creationId xmlns:a16="http://schemas.microsoft.com/office/drawing/2014/main" id="{534E57AB-03F8-4288-7CEE-8E2300DEAB1E}"/>
              </a:ext>
            </a:extLst>
          </p:cNvPr>
          <p:cNvGrpSpPr/>
          <p:nvPr/>
        </p:nvGrpSpPr>
        <p:grpSpPr>
          <a:xfrm>
            <a:off x="2482644" y="4517927"/>
            <a:ext cx="912412" cy="2163977"/>
            <a:chOff x="1907458" y="1425677"/>
            <a:chExt cx="912412" cy="2163977"/>
          </a:xfrm>
        </p:grpSpPr>
        <p:sp>
          <p:nvSpPr>
            <p:cNvPr id="171" name="四角形: 角を丸くする 170">
              <a:extLst>
                <a:ext uri="{FF2B5EF4-FFF2-40B4-BE49-F238E27FC236}">
                  <a16:creationId xmlns:a16="http://schemas.microsoft.com/office/drawing/2014/main" id="{8AEBBCC0-73B6-8469-5EFF-DA5F77DC6407}"/>
                </a:ext>
              </a:extLst>
            </p:cNvPr>
            <p:cNvSpPr/>
            <p:nvPr/>
          </p:nvSpPr>
          <p:spPr>
            <a:xfrm>
              <a:off x="1907458" y="1425677"/>
              <a:ext cx="912412" cy="2163977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四角形: 角を丸くする 171">
              <a:extLst>
                <a:ext uri="{FF2B5EF4-FFF2-40B4-BE49-F238E27FC236}">
                  <a16:creationId xmlns:a16="http://schemas.microsoft.com/office/drawing/2014/main" id="{B2B68F1E-9B9B-3C84-BFAE-B4E99F927174}"/>
                </a:ext>
              </a:extLst>
            </p:cNvPr>
            <p:cNvSpPr/>
            <p:nvPr/>
          </p:nvSpPr>
          <p:spPr>
            <a:xfrm>
              <a:off x="2016000" y="1530680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Fe</a:t>
              </a:r>
            </a:p>
          </p:txBody>
        </p:sp>
        <p:sp>
          <p:nvSpPr>
            <p:cNvPr id="173" name="四角形: 角を丸くする 172">
              <a:extLst>
                <a:ext uri="{FF2B5EF4-FFF2-40B4-BE49-F238E27FC236}">
                  <a16:creationId xmlns:a16="http://schemas.microsoft.com/office/drawing/2014/main" id="{DFC7C482-FB4A-1B5C-353C-EB18A17C14E8}"/>
                </a:ext>
              </a:extLst>
            </p:cNvPr>
            <p:cNvSpPr/>
            <p:nvPr/>
          </p:nvSpPr>
          <p:spPr>
            <a:xfrm>
              <a:off x="2016000" y="1948552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SiO</a:t>
              </a:r>
              <a:r>
                <a:rPr lang="en-US" altLang="ja-JP" sz="1200" b="1" baseline="-25000" dirty="0">
                  <a:solidFill>
                    <a:srgbClr val="2E5FC0"/>
                  </a:solidFill>
                </a:rPr>
                <a:t>2</a:t>
              </a:r>
              <a:r>
                <a:rPr lang="en-US" altLang="ja-JP" sz="1200" b="1" dirty="0">
                  <a:solidFill>
                    <a:srgbClr val="2E5FC0"/>
                  </a:solidFill>
                </a:rPr>
                <a:t>-Si</a:t>
              </a:r>
            </a:p>
          </p:txBody>
        </p:sp>
        <p:sp>
          <p:nvSpPr>
            <p:cNvPr id="174" name="四角形: 角を丸くする 173">
              <a:extLst>
                <a:ext uri="{FF2B5EF4-FFF2-40B4-BE49-F238E27FC236}">
                  <a16:creationId xmlns:a16="http://schemas.microsoft.com/office/drawing/2014/main" id="{20BF796C-8F07-1167-A0D3-8ACC0B3671E5}"/>
                </a:ext>
              </a:extLst>
            </p:cNvPr>
            <p:cNvSpPr/>
            <p:nvPr/>
          </p:nvSpPr>
          <p:spPr>
            <a:xfrm>
              <a:off x="2016000" y="2356592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PO</a:t>
              </a:r>
              <a:r>
                <a:rPr lang="en-US" altLang="ja-JP" sz="1200" b="1" baseline="-25000" dirty="0">
                  <a:solidFill>
                    <a:srgbClr val="2E5FC0"/>
                  </a:solidFill>
                </a:rPr>
                <a:t>4</a:t>
              </a:r>
              <a:r>
                <a:rPr lang="en-US" altLang="ja-JP" sz="1200" b="1" dirty="0">
                  <a:solidFill>
                    <a:srgbClr val="2E5FC0"/>
                  </a:solidFill>
                </a:rPr>
                <a:t>-P</a:t>
              </a:r>
            </a:p>
          </p:txBody>
        </p:sp>
        <p:sp>
          <p:nvSpPr>
            <p:cNvPr id="175" name="四角形: 角を丸くする 174">
              <a:extLst>
                <a:ext uri="{FF2B5EF4-FFF2-40B4-BE49-F238E27FC236}">
                  <a16:creationId xmlns:a16="http://schemas.microsoft.com/office/drawing/2014/main" id="{8C1F6F01-0EF5-16AF-6CE8-C0A891579403}"/>
                </a:ext>
              </a:extLst>
            </p:cNvPr>
            <p:cNvSpPr/>
            <p:nvPr/>
          </p:nvSpPr>
          <p:spPr>
            <a:xfrm>
              <a:off x="2016000" y="2774465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NO</a:t>
              </a:r>
              <a:r>
                <a:rPr lang="en-US" altLang="ja-JP" sz="1200" b="1" baseline="-25000" dirty="0">
                  <a:solidFill>
                    <a:srgbClr val="2E5FC0"/>
                  </a:solidFill>
                </a:rPr>
                <a:t>3</a:t>
              </a:r>
              <a:r>
                <a:rPr lang="en-US" altLang="ja-JP" sz="1200" b="1" dirty="0">
                  <a:solidFill>
                    <a:srgbClr val="2E5FC0"/>
                  </a:solidFill>
                </a:rPr>
                <a:t>-N</a:t>
              </a:r>
            </a:p>
          </p:txBody>
        </p:sp>
        <p:sp>
          <p:nvSpPr>
            <p:cNvPr id="176" name="四角形: 角を丸くする 175">
              <a:extLst>
                <a:ext uri="{FF2B5EF4-FFF2-40B4-BE49-F238E27FC236}">
                  <a16:creationId xmlns:a16="http://schemas.microsoft.com/office/drawing/2014/main" id="{F6BBA55B-6408-C395-E9B5-E80B649C9301}"/>
                </a:ext>
              </a:extLst>
            </p:cNvPr>
            <p:cNvSpPr/>
            <p:nvPr/>
          </p:nvSpPr>
          <p:spPr>
            <a:xfrm>
              <a:off x="2016000" y="3172671"/>
              <a:ext cx="720000" cy="324000"/>
            </a:xfrm>
            <a:prstGeom prst="roundRect">
              <a:avLst/>
            </a:prstGeom>
            <a:noFill/>
            <a:ln w="15875">
              <a:solidFill>
                <a:srgbClr val="2E5F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200" b="1" dirty="0">
                  <a:solidFill>
                    <a:srgbClr val="2E5FC0"/>
                  </a:solidFill>
                </a:rPr>
                <a:t>NH</a:t>
              </a:r>
              <a:r>
                <a:rPr lang="en-US" altLang="ja-JP" sz="1200" b="1" baseline="-25000" dirty="0">
                  <a:solidFill>
                    <a:srgbClr val="2E5FC0"/>
                  </a:solidFill>
                </a:rPr>
                <a:t>4</a:t>
              </a:r>
              <a:r>
                <a:rPr lang="en-US" altLang="ja-JP" sz="1200" b="1" dirty="0">
                  <a:solidFill>
                    <a:srgbClr val="2E5FC0"/>
                  </a:solidFill>
                </a:rPr>
                <a:t>-N</a:t>
              </a:r>
            </a:p>
          </p:txBody>
        </p:sp>
      </p:grpSp>
      <p:grpSp>
        <p:nvGrpSpPr>
          <p:cNvPr id="177" name="グループ化 176">
            <a:extLst>
              <a:ext uri="{FF2B5EF4-FFF2-40B4-BE49-F238E27FC236}">
                <a16:creationId xmlns:a16="http://schemas.microsoft.com/office/drawing/2014/main" id="{8101D3A8-42EC-72AC-73CE-6C0C52FA8F14}"/>
              </a:ext>
            </a:extLst>
          </p:cNvPr>
          <p:cNvGrpSpPr/>
          <p:nvPr/>
        </p:nvGrpSpPr>
        <p:grpSpPr>
          <a:xfrm>
            <a:off x="9247403" y="2453989"/>
            <a:ext cx="1260000" cy="792000"/>
            <a:chOff x="4434721" y="2399911"/>
            <a:chExt cx="1260000" cy="792000"/>
          </a:xfrm>
        </p:grpSpPr>
        <p:sp>
          <p:nvSpPr>
            <p:cNvPr id="178" name="Rounded Rectangle 21">
              <a:extLst>
                <a:ext uri="{FF2B5EF4-FFF2-40B4-BE49-F238E27FC236}">
                  <a16:creationId xmlns:a16="http://schemas.microsoft.com/office/drawing/2014/main" id="{26B6E797-1BB0-6CFC-83F6-83CCE90ED8DF}"/>
                </a:ext>
              </a:extLst>
            </p:cNvPr>
            <p:cNvSpPr/>
            <p:nvPr/>
          </p:nvSpPr>
          <p:spPr>
            <a:xfrm>
              <a:off x="4434721" y="2399911"/>
              <a:ext cx="1260000" cy="792000"/>
            </a:xfrm>
            <a:prstGeom prst="roundRect">
              <a:avLst>
                <a:gd name="adj" fmla="val 18000"/>
              </a:avLst>
            </a:prstGeom>
            <a:solidFill>
              <a:schemeClr val="tx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chemeClr val="tx1"/>
                  </a:solidFill>
                </a:rPr>
                <a:t>DOM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5FC0"/>
                </a:solidFill>
              </a:endParaRPr>
            </a:p>
          </p:txBody>
        </p:sp>
        <p:sp>
          <p:nvSpPr>
            <p:cNvPr id="179" name="Rounded Rectangle 21">
              <a:extLst>
                <a:ext uri="{FF2B5EF4-FFF2-40B4-BE49-F238E27FC236}">
                  <a16:creationId xmlns:a16="http://schemas.microsoft.com/office/drawing/2014/main" id="{1C9C39A1-F76F-3926-6123-559DC6B5ED56}"/>
                </a:ext>
              </a:extLst>
            </p:cNvPr>
            <p:cNvSpPr/>
            <p:nvPr/>
          </p:nvSpPr>
          <p:spPr>
            <a:xfrm>
              <a:off x="4523212" y="2763702"/>
              <a:ext cx="108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tx1">
                      <a:lumMod val="75000"/>
                    </a:schemeClr>
                  </a:solidFill>
                </a:rPr>
                <a:t>R1, R2, R3</a:t>
              </a:r>
              <a:endParaRPr sz="1200" b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180" name="グループ化 179">
            <a:extLst>
              <a:ext uri="{FF2B5EF4-FFF2-40B4-BE49-F238E27FC236}">
                <a16:creationId xmlns:a16="http://schemas.microsoft.com/office/drawing/2014/main" id="{A55DDC63-6B62-5247-1D68-01887D0625C5}"/>
              </a:ext>
            </a:extLst>
          </p:cNvPr>
          <p:cNvGrpSpPr/>
          <p:nvPr/>
        </p:nvGrpSpPr>
        <p:grpSpPr>
          <a:xfrm>
            <a:off x="10746830" y="1406850"/>
            <a:ext cx="1260000" cy="792000"/>
            <a:chOff x="4434721" y="2399911"/>
            <a:chExt cx="1260000" cy="792000"/>
          </a:xfrm>
        </p:grpSpPr>
        <p:sp>
          <p:nvSpPr>
            <p:cNvPr id="181" name="Rounded Rectangle 21">
              <a:extLst>
                <a:ext uri="{FF2B5EF4-FFF2-40B4-BE49-F238E27FC236}">
                  <a16:creationId xmlns:a16="http://schemas.microsoft.com/office/drawing/2014/main" id="{E5005B54-F9BB-C237-10E5-75CEA0A2434F}"/>
                </a:ext>
              </a:extLst>
            </p:cNvPr>
            <p:cNvSpPr/>
            <p:nvPr/>
          </p:nvSpPr>
          <p:spPr>
            <a:xfrm>
              <a:off x="4434721" y="2399911"/>
              <a:ext cx="1260000" cy="792000"/>
            </a:xfrm>
            <a:prstGeom prst="roundRect">
              <a:avLst>
                <a:gd name="adj" fmla="val 18000"/>
              </a:avLst>
            </a:prstGeom>
            <a:solidFill>
              <a:schemeClr val="tx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chemeClr val="tx1"/>
                  </a:solidFill>
                </a:rPr>
                <a:t>POM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5FC0"/>
                </a:solidFill>
              </a:endParaRPr>
            </a:p>
          </p:txBody>
        </p:sp>
        <p:sp>
          <p:nvSpPr>
            <p:cNvPr id="182" name="Rounded Rectangle 21">
              <a:extLst>
                <a:ext uri="{FF2B5EF4-FFF2-40B4-BE49-F238E27FC236}">
                  <a16:creationId xmlns:a16="http://schemas.microsoft.com/office/drawing/2014/main" id="{0085708B-18E5-297A-91E5-39765051219C}"/>
                </a:ext>
              </a:extLst>
            </p:cNvPr>
            <p:cNvSpPr/>
            <p:nvPr/>
          </p:nvSpPr>
          <p:spPr>
            <a:xfrm>
              <a:off x="4523212" y="2763702"/>
              <a:ext cx="108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tx1">
                      <a:lumMod val="75000"/>
                    </a:schemeClr>
                  </a:solidFill>
                </a:rPr>
                <a:t>R4, R5, R6</a:t>
              </a:r>
              <a:endParaRPr sz="1200" b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183" name="グループ化 182">
            <a:extLst>
              <a:ext uri="{FF2B5EF4-FFF2-40B4-BE49-F238E27FC236}">
                <a16:creationId xmlns:a16="http://schemas.microsoft.com/office/drawing/2014/main" id="{6C707D4A-E22D-9DFA-26D3-A46341AB009C}"/>
              </a:ext>
            </a:extLst>
          </p:cNvPr>
          <p:cNvGrpSpPr/>
          <p:nvPr/>
        </p:nvGrpSpPr>
        <p:grpSpPr>
          <a:xfrm>
            <a:off x="10771408" y="4774406"/>
            <a:ext cx="1260000" cy="792000"/>
            <a:chOff x="4434721" y="2399911"/>
            <a:chExt cx="1260000" cy="792000"/>
          </a:xfrm>
        </p:grpSpPr>
        <p:sp>
          <p:nvSpPr>
            <p:cNvPr id="184" name="Rounded Rectangle 21">
              <a:extLst>
                <a:ext uri="{FF2B5EF4-FFF2-40B4-BE49-F238E27FC236}">
                  <a16:creationId xmlns:a16="http://schemas.microsoft.com/office/drawing/2014/main" id="{0C499697-613F-DDB8-03DD-C13B4A6104A8}"/>
                </a:ext>
              </a:extLst>
            </p:cNvPr>
            <p:cNvSpPr/>
            <p:nvPr/>
          </p:nvSpPr>
          <p:spPr>
            <a:xfrm>
              <a:off x="4434721" y="2399911"/>
              <a:ext cx="1260000" cy="792000"/>
            </a:xfrm>
            <a:prstGeom prst="roundRect">
              <a:avLst>
                <a:gd name="adj" fmla="val 18000"/>
              </a:avLst>
            </a:prstGeom>
            <a:solidFill>
              <a:schemeClr val="tx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chemeClr val="tx1"/>
                  </a:solidFill>
                </a:rPr>
                <a:t>POM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5FC0"/>
                </a:solidFill>
              </a:endParaRPr>
            </a:p>
          </p:txBody>
        </p:sp>
        <p:sp>
          <p:nvSpPr>
            <p:cNvPr id="185" name="Rounded Rectangle 21">
              <a:extLst>
                <a:ext uri="{FF2B5EF4-FFF2-40B4-BE49-F238E27FC236}">
                  <a16:creationId xmlns:a16="http://schemas.microsoft.com/office/drawing/2014/main" id="{9644552E-2037-6152-05FA-54C3FF74729E}"/>
                </a:ext>
              </a:extLst>
            </p:cNvPr>
            <p:cNvSpPr/>
            <p:nvPr/>
          </p:nvSpPr>
          <p:spPr>
            <a:xfrm>
              <a:off x="4523212" y="2763702"/>
              <a:ext cx="108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tx1">
                      <a:lumMod val="75000"/>
                    </a:schemeClr>
                  </a:solidFill>
                </a:rPr>
                <a:t>R4, R5, R6</a:t>
              </a:r>
              <a:endParaRPr sz="1200" b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186" name="グループ化 185">
            <a:extLst>
              <a:ext uri="{FF2B5EF4-FFF2-40B4-BE49-F238E27FC236}">
                <a16:creationId xmlns:a16="http://schemas.microsoft.com/office/drawing/2014/main" id="{6C4D71AD-C240-8952-C87A-33BEBB73052B}"/>
              </a:ext>
            </a:extLst>
          </p:cNvPr>
          <p:cNvGrpSpPr/>
          <p:nvPr/>
        </p:nvGrpSpPr>
        <p:grpSpPr>
          <a:xfrm>
            <a:off x="9252320" y="5841210"/>
            <a:ext cx="1260000" cy="792000"/>
            <a:chOff x="4434721" y="2399911"/>
            <a:chExt cx="1260000" cy="792000"/>
          </a:xfrm>
        </p:grpSpPr>
        <p:sp>
          <p:nvSpPr>
            <p:cNvPr id="187" name="Rounded Rectangle 21">
              <a:extLst>
                <a:ext uri="{FF2B5EF4-FFF2-40B4-BE49-F238E27FC236}">
                  <a16:creationId xmlns:a16="http://schemas.microsoft.com/office/drawing/2014/main" id="{CA6C6524-4A3B-1E0A-F609-4BE8B834F3ED}"/>
                </a:ext>
              </a:extLst>
            </p:cNvPr>
            <p:cNvSpPr/>
            <p:nvPr/>
          </p:nvSpPr>
          <p:spPr>
            <a:xfrm>
              <a:off x="4434721" y="2399911"/>
              <a:ext cx="1260000" cy="792000"/>
            </a:xfrm>
            <a:prstGeom prst="roundRect">
              <a:avLst>
                <a:gd name="adj" fmla="val 18000"/>
              </a:avLst>
            </a:prstGeom>
            <a:solidFill>
              <a:schemeClr val="tx1">
                <a:lumMod val="20000"/>
                <a:lumOff val="80000"/>
              </a:schemeClr>
            </a:solidFill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chemeClr val="tx1"/>
                  </a:solidFill>
                </a:rPr>
                <a:t>DOM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5FC0"/>
                </a:solidFill>
              </a:endParaRPr>
            </a:p>
          </p:txBody>
        </p:sp>
        <p:sp>
          <p:nvSpPr>
            <p:cNvPr id="188" name="Rounded Rectangle 21">
              <a:extLst>
                <a:ext uri="{FF2B5EF4-FFF2-40B4-BE49-F238E27FC236}">
                  <a16:creationId xmlns:a16="http://schemas.microsoft.com/office/drawing/2014/main" id="{F34F4216-724C-546A-12D3-B1AF574A6080}"/>
                </a:ext>
              </a:extLst>
            </p:cNvPr>
            <p:cNvSpPr/>
            <p:nvPr/>
          </p:nvSpPr>
          <p:spPr>
            <a:xfrm>
              <a:off x="4523212" y="2763702"/>
              <a:ext cx="108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tx1">
                      <a:lumMod val="75000"/>
                    </a:schemeClr>
                  </a:solidFill>
                </a:rPr>
                <a:t>R1, R2, R3</a:t>
              </a:r>
              <a:endParaRPr sz="1200" b="1" dirty="0">
                <a:solidFill>
                  <a:schemeClr val="tx1">
                    <a:lumMod val="75000"/>
                  </a:schemeClr>
                </a:solidFill>
              </a:endParaRPr>
            </a:p>
          </p:txBody>
        </p:sp>
      </p:grpSp>
      <p:grpSp>
        <p:nvGrpSpPr>
          <p:cNvPr id="191" name="グループ化 190">
            <a:extLst>
              <a:ext uri="{FF2B5EF4-FFF2-40B4-BE49-F238E27FC236}">
                <a16:creationId xmlns:a16="http://schemas.microsoft.com/office/drawing/2014/main" id="{25FE79EA-6E1A-8041-E4DC-AC399CB393A5}"/>
              </a:ext>
            </a:extLst>
          </p:cNvPr>
          <p:cNvGrpSpPr/>
          <p:nvPr/>
        </p:nvGrpSpPr>
        <p:grpSpPr>
          <a:xfrm>
            <a:off x="9249740" y="1131701"/>
            <a:ext cx="1260000" cy="792000"/>
            <a:chOff x="2996412" y="1652811"/>
            <a:chExt cx="1260000" cy="792000"/>
          </a:xfrm>
        </p:grpSpPr>
        <p:sp>
          <p:nvSpPr>
            <p:cNvPr id="17" name="Rounded Rectangle 15">
              <a:extLst>
                <a:ext uri="{FF2B5EF4-FFF2-40B4-BE49-F238E27FC236}">
                  <a16:creationId xmlns:a16="http://schemas.microsoft.com/office/drawing/2014/main" id="{73B38D92-B59A-5CCA-6FF6-4A44F25BFFB1}"/>
                </a:ext>
              </a:extLst>
            </p:cNvPr>
            <p:cNvSpPr/>
            <p:nvPr/>
          </p:nvSpPr>
          <p:spPr>
            <a:xfrm>
              <a:off x="2996412" y="1652811"/>
              <a:ext cx="1260000" cy="792000"/>
            </a:xfrm>
            <a:prstGeom prst="roundRect">
              <a:avLst>
                <a:gd name="adj" fmla="val 18000"/>
              </a:avLst>
            </a:prstGeom>
            <a:solidFill>
              <a:srgbClr val="FFCDCD"/>
            </a:solidFill>
            <a:ln w="15875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sz="1200" b="1" dirty="0">
                  <a:solidFill>
                    <a:srgbClr val="FF0000"/>
                  </a:solidFill>
                </a:rPr>
                <a:t>Light model</a:t>
              </a:r>
              <a:endParaRPr lang="en-US" sz="1200" b="1" dirty="0">
                <a:solidFill>
                  <a:srgbClr val="FF0000"/>
                </a:solidFill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lang="en-US" sz="1200" b="1" dirty="0">
                <a:solidFill>
                  <a:srgbClr val="2E5FC0"/>
                </a:solidFill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endParaRPr sz="1200" b="1" dirty="0">
                <a:solidFill>
                  <a:srgbClr val="2E5FC0"/>
                </a:solidFill>
              </a:endParaRPr>
            </a:p>
          </p:txBody>
        </p:sp>
        <p:sp>
          <p:nvSpPr>
            <p:cNvPr id="190" name="Rounded Rectangle 21">
              <a:extLst>
                <a:ext uri="{FF2B5EF4-FFF2-40B4-BE49-F238E27FC236}">
                  <a16:creationId xmlns:a16="http://schemas.microsoft.com/office/drawing/2014/main" id="{B96D9D69-8098-024A-D7CB-1702BE7CA796}"/>
                </a:ext>
              </a:extLst>
            </p:cNvPr>
            <p:cNvSpPr/>
            <p:nvPr/>
          </p:nvSpPr>
          <p:spPr>
            <a:xfrm>
              <a:off x="3092396" y="2050862"/>
              <a:ext cx="108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rgbClr val="C00000"/>
                  </a:solidFill>
                </a:rPr>
                <a:t>SPM optics</a:t>
              </a:r>
              <a:endParaRPr sz="12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193" name="四角形: 角を丸くする 192">
            <a:extLst>
              <a:ext uri="{FF2B5EF4-FFF2-40B4-BE49-F238E27FC236}">
                <a16:creationId xmlns:a16="http://schemas.microsoft.com/office/drawing/2014/main" id="{A40D031B-7A56-2017-CCD4-7607822DB8CF}"/>
              </a:ext>
            </a:extLst>
          </p:cNvPr>
          <p:cNvSpPr/>
          <p:nvPr/>
        </p:nvSpPr>
        <p:spPr>
          <a:xfrm>
            <a:off x="3859163" y="1397326"/>
            <a:ext cx="648000" cy="324000"/>
          </a:xfrm>
          <a:prstGeom prst="roundRect">
            <a:avLst/>
          </a:prstGeom>
          <a:noFill/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O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2</a:t>
            </a:r>
          </a:p>
        </p:txBody>
      </p:sp>
      <p:sp>
        <p:nvSpPr>
          <p:cNvPr id="195" name="四角形: 角を丸くする 194">
            <a:extLst>
              <a:ext uri="{FF2B5EF4-FFF2-40B4-BE49-F238E27FC236}">
                <a16:creationId xmlns:a16="http://schemas.microsoft.com/office/drawing/2014/main" id="{52B3C98A-FF15-6FB0-ED29-09D3097A2033}"/>
              </a:ext>
            </a:extLst>
          </p:cNvPr>
          <p:cNvSpPr/>
          <p:nvPr/>
        </p:nvSpPr>
        <p:spPr>
          <a:xfrm>
            <a:off x="231056" y="4716341"/>
            <a:ext cx="720000" cy="1152000"/>
          </a:xfrm>
          <a:prstGeom prst="roundRect">
            <a:avLst/>
          </a:prstGeom>
          <a:solidFill>
            <a:schemeClr val="bg2"/>
          </a:solidFill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H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2</a:t>
            </a:r>
            <a:r>
              <a:rPr lang="en-US" altLang="ja-JP" sz="1200" b="1" dirty="0">
                <a:solidFill>
                  <a:srgbClr val="2E5FC0"/>
                </a:solidFill>
              </a:rPr>
              <a:t>CO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3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|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HCO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3</a:t>
            </a:r>
            <a:r>
              <a:rPr lang="en-US" altLang="ja-JP" sz="1200" b="1" baseline="30000" dirty="0">
                <a:solidFill>
                  <a:srgbClr val="2E5FC0"/>
                </a:solidFill>
              </a:rPr>
              <a:t>-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|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CO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3</a:t>
            </a:r>
            <a:r>
              <a:rPr lang="en-US" altLang="ja-JP" sz="1200" b="1" baseline="30000" dirty="0">
                <a:solidFill>
                  <a:srgbClr val="2E5FC0"/>
                </a:solidFill>
              </a:rPr>
              <a:t>2-</a:t>
            </a:r>
          </a:p>
        </p:txBody>
      </p:sp>
      <p:sp>
        <p:nvSpPr>
          <p:cNvPr id="197" name="四角形: 角を丸くする 196">
            <a:extLst>
              <a:ext uri="{FF2B5EF4-FFF2-40B4-BE49-F238E27FC236}">
                <a16:creationId xmlns:a16="http://schemas.microsoft.com/office/drawing/2014/main" id="{A49AAA08-A5D2-5780-A3F7-D6C7529D7874}"/>
              </a:ext>
            </a:extLst>
          </p:cNvPr>
          <p:cNvSpPr/>
          <p:nvPr/>
        </p:nvSpPr>
        <p:spPr>
          <a:xfrm>
            <a:off x="255636" y="6048617"/>
            <a:ext cx="648000" cy="324000"/>
          </a:xfrm>
          <a:prstGeom prst="roundRect">
            <a:avLst/>
          </a:prstGeom>
          <a:noFill/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TA</a:t>
            </a:r>
          </a:p>
        </p:txBody>
      </p:sp>
      <p:sp>
        <p:nvSpPr>
          <p:cNvPr id="199" name="四角形: 角を丸くする 198">
            <a:extLst>
              <a:ext uri="{FF2B5EF4-FFF2-40B4-BE49-F238E27FC236}">
                <a16:creationId xmlns:a16="http://schemas.microsoft.com/office/drawing/2014/main" id="{F44D3404-626D-AE64-08B4-CC4711694FE9}"/>
              </a:ext>
            </a:extLst>
          </p:cNvPr>
          <p:cNvSpPr/>
          <p:nvPr/>
        </p:nvSpPr>
        <p:spPr>
          <a:xfrm>
            <a:off x="1111044" y="4809749"/>
            <a:ext cx="648000" cy="504000"/>
          </a:xfrm>
          <a:prstGeom prst="roundRect">
            <a:avLst/>
          </a:prstGeom>
          <a:noFill/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pH</a:t>
            </a:r>
          </a:p>
          <a:p>
            <a:pPr algn="ctr"/>
            <a:r>
              <a:rPr lang="en-US" altLang="ja-JP" sz="1200" b="1" dirty="0">
                <a:solidFill>
                  <a:srgbClr val="2E5FC0"/>
                </a:solidFill>
                <a:latin typeface="Symbol" panose="05050102010706020507" pitchFamily="18" charset="2"/>
              </a:rPr>
              <a:t>W</a:t>
            </a:r>
          </a:p>
        </p:txBody>
      </p:sp>
      <p:sp>
        <p:nvSpPr>
          <p:cNvPr id="201" name="四角形: 角を丸くする 200">
            <a:extLst>
              <a:ext uri="{FF2B5EF4-FFF2-40B4-BE49-F238E27FC236}">
                <a16:creationId xmlns:a16="http://schemas.microsoft.com/office/drawing/2014/main" id="{4AFFBA7C-797C-4D69-9503-0FBC25E17698}"/>
              </a:ext>
            </a:extLst>
          </p:cNvPr>
          <p:cNvSpPr/>
          <p:nvPr/>
        </p:nvSpPr>
        <p:spPr>
          <a:xfrm>
            <a:off x="3864079" y="4750754"/>
            <a:ext cx="648000" cy="324000"/>
          </a:xfrm>
          <a:prstGeom prst="roundRect">
            <a:avLst/>
          </a:prstGeom>
          <a:noFill/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O</a:t>
            </a:r>
            <a:r>
              <a:rPr lang="en-US" altLang="ja-JP" sz="1200" b="1" baseline="-25000" dirty="0">
                <a:solidFill>
                  <a:srgbClr val="2E5FC0"/>
                </a:solidFill>
              </a:rPr>
              <a:t>2</a:t>
            </a:r>
          </a:p>
        </p:txBody>
      </p:sp>
      <p:sp>
        <p:nvSpPr>
          <p:cNvPr id="207" name="Rounded Rectangle 10">
            <a:extLst>
              <a:ext uri="{FF2B5EF4-FFF2-40B4-BE49-F238E27FC236}">
                <a16:creationId xmlns:a16="http://schemas.microsoft.com/office/drawing/2014/main" id="{CBD00458-F0DC-35FD-8A06-94D825907AB8}"/>
              </a:ext>
            </a:extLst>
          </p:cNvPr>
          <p:cNvSpPr/>
          <p:nvPr/>
        </p:nvSpPr>
        <p:spPr>
          <a:xfrm>
            <a:off x="3872638" y="612000"/>
            <a:ext cx="648000" cy="31345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dirty="0">
                <a:solidFill>
                  <a:srgbClr val="1A1A1A"/>
                </a:solidFill>
              </a:rPr>
              <a:t>O₂</a:t>
            </a:r>
          </a:p>
        </p:txBody>
      </p:sp>
      <p:grpSp>
        <p:nvGrpSpPr>
          <p:cNvPr id="210" name="グループ化 209">
            <a:extLst>
              <a:ext uri="{FF2B5EF4-FFF2-40B4-BE49-F238E27FC236}">
                <a16:creationId xmlns:a16="http://schemas.microsoft.com/office/drawing/2014/main" id="{BC1A5745-89F2-14E7-4785-1FB7BA2F667D}"/>
              </a:ext>
            </a:extLst>
          </p:cNvPr>
          <p:cNvGrpSpPr/>
          <p:nvPr/>
        </p:nvGrpSpPr>
        <p:grpSpPr>
          <a:xfrm>
            <a:off x="3751158" y="2626053"/>
            <a:ext cx="910800" cy="1260000"/>
            <a:chOff x="4429805" y="4882562"/>
            <a:chExt cx="910800" cy="1260000"/>
          </a:xfrm>
        </p:grpSpPr>
        <p:sp>
          <p:nvSpPr>
            <p:cNvPr id="211" name="Rounded Rectangle 21">
              <a:extLst>
                <a:ext uri="{FF2B5EF4-FFF2-40B4-BE49-F238E27FC236}">
                  <a16:creationId xmlns:a16="http://schemas.microsoft.com/office/drawing/2014/main" id="{F3A2C6A9-5496-2E67-F1D8-3E4B3382D1F4}"/>
                </a:ext>
              </a:extLst>
            </p:cNvPr>
            <p:cNvSpPr/>
            <p:nvPr/>
          </p:nvSpPr>
          <p:spPr>
            <a:xfrm>
              <a:off x="4429805" y="4882562"/>
              <a:ext cx="910800" cy="1260000"/>
            </a:xfrm>
            <a:prstGeom prst="roundRect">
              <a:avLst>
                <a:gd name="adj" fmla="val 18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chemeClr val="accent2"/>
                  </a:solidFill>
                </a:rPr>
                <a:t>Sulfur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5FC0"/>
                </a:solidFill>
              </a:endParaRPr>
            </a:p>
          </p:txBody>
        </p:sp>
        <p:sp>
          <p:nvSpPr>
            <p:cNvPr id="212" name="Rounded Rectangle 21">
              <a:extLst>
                <a:ext uri="{FF2B5EF4-FFF2-40B4-BE49-F238E27FC236}">
                  <a16:creationId xmlns:a16="http://schemas.microsoft.com/office/drawing/2014/main" id="{5D40183A-DA74-16FA-AB7F-B4315E881063}"/>
                </a:ext>
              </a:extLst>
            </p:cNvPr>
            <p:cNvSpPr/>
            <p:nvPr/>
          </p:nvSpPr>
          <p:spPr>
            <a:xfrm>
              <a:off x="4518296" y="5295513"/>
              <a:ext cx="72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H</a:t>
              </a:r>
              <a:r>
                <a:rPr lang="en-US" sz="1200" b="1" baseline="-2500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S</a:t>
              </a:r>
              <a:endParaRPr sz="1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13" name="Rounded Rectangle 21">
              <a:extLst>
                <a:ext uri="{FF2B5EF4-FFF2-40B4-BE49-F238E27FC236}">
                  <a16:creationId xmlns:a16="http://schemas.microsoft.com/office/drawing/2014/main" id="{4730E477-E191-D5AC-D497-DEF302EAA151}"/>
                </a:ext>
              </a:extLst>
            </p:cNvPr>
            <p:cNvSpPr/>
            <p:nvPr/>
          </p:nvSpPr>
          <p:spPr>
            <a:xfrm>
              <a:off x="4513379" y="5713384"/>
              <a:ext cx="72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S</a:t>
              </a:r>
              <a:r>
                <a:rPr lang="en-US" sz="1200" b="1" baseline="30000" dirty="0">
                  <a:solidFill>
                    <a:schemeClr val="accent2">
                      <a:lumMod val="75000"/>
                    </a:schemeClr>
                  </a:solidFill>
                </a:rPr>
                <a:t>0</a:t>
              </a:r>
            </a:p>
          </p:txBody>
        </p:sp>
      </p:grpSp>
      <p:grpSp>
        <p:nvGrpSpPr>
          <p:cNvPr id="216" name="グループ化 215">
            <a:extLst>
              <a:ext uri="{FF2B5EF4-FFF2-40B4-BE49-F238E27FC236}">
                <a16:creationId xmlns:a16="http://schemas.microsoft.com/office/drawing/2014/main" id="{1AC185E2-A270-71A4-BE67-069D35051E96}"/>
              </a:ext>
            </a:extLst>
          </p:cNvPr>
          <p:cNvGrpSpPr/>
          <p:nvPr/>
        </p:nvGrpSpPr>
        <p:grpSpPr>
          <a:xfrm>
            <a:off x="3756073" y="5295517"/>
            <a:ext cx="910800" cy="1260000"/>
            <a:chOff x="4429805" y="4882562"/>
            <a:chExt cx="910800" cy="1260000"/>
          </a:xfrm>
        </p:grpSpPr>
        <p:sp>
          <p:nvSpPr>
            <p:cNvPr id="217" name="Rounded Rectangle 21">
              <a:extLst>
                <a:ext uri="{FF2B5EF4-FFF2-40B4-BE49-F238E27FC236}">
                  <a16:creationId xmlns:a16="http://schemas.microsoft.com/office/drawing/2014/main" id="{770E7805-2377-180B-CADE-6D0CF56131F5}"/>
                </a:ext>
              </a:extLst>
            </p:cNvPr>
            <p:cNvSpPr/>
            <p:nvPr/>
          </p:nvSpPr>
          <p:spPr>
            <a:xfrm>
              <a:off x="4429805" y="4882562"/>
              <a:ext cx="910800" cy="1260000"/>
            </a:xfrm>
            <a:prstGeom prst="roundRect">
              <a:avLst>
                <a:gd name="adj" fmla="val 18000"/>
              </a:avLst>
            </a:prstGeom>
            <a:solidFill>
              <a:schemeClr val="accent3">
                <a:lumMod val="20000"/>
                <a:lumOff val="80000"/>
              </a:schemeClr>
            </a:solidFill>
            <a:ln w="158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lang="en-US" sz="1400" b="1" dirty="0">
                  <a:solidFill>
                    <a:schemeClr val="accent2"/>
                  </a:solidFill>
                </a:rPr>
                <a:t>Sulfur</a:t>
              </a: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lang="en-US" sz="1400" b="1" dirty="0">
                <a:solidFill>
                  <a:srgbClr val="2E5FC0"/>
                </a:solidFill>
              </a:endParaRPr>
            </a:p>
            <a:p>
              <a:pPr>
                <a:spcBef>
                  <a:spcPts val="0"/>
                </a:spcBef>
                <a:spcAft>
                  <a:spcPts val="0"/>
                </a:spcAft>
              </a:pPr>
              <a:endParaRPr sz="1400" b="1" dirty="0">
                <a:solidFill>
                  <a:srgbClr val="2E5FC0"/>
                </a:solidFill>
              </a:endParaRPr>
            </a:p>
          </p:txBody>
        </p:sp>
        <p:sp>
          <p:nvSpPr>
            <p:cNvPr id="218" name="Rounded Rectangle 21">
              <a:extLst>
                <a:ext uri="{FF2B5EF4-FFF2-40B4-BE49-F238E27FC236}">
                  <a16:creationId xmlns:a16="http://schemas.microsoft.com/office/drawing/2014/main" id="{3C7B80C9-755B-BB02-D072-0EF34B433AE1}"/>
                </a:ext>
              </a:extLst>
            </p:cNvPr>
            <p:cNvSpPr/>
            <p:nvPr/>
          </p:nvSpPr>
          <p:spPr>
            <a:xfrm>
              <a:off x="4518296" y="5295513"/>
              <a:ext cx="72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H</a:t>
              </a:r>
              <a:r>
                <a:rPr lang="en-US" sz="1200" b="1" baseline="-25000" dirty="0">
                  <a:solidFill>
                    <a:schemeClr val="accent2">
                      <a:lumMod val="75000"/>
                    </a:schemeClr>
                  </a:solidFill>
                </a:rPr>
                <a:t>2</a:t>
              </a: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S</a:t>
              </a:r>
              <a:endParaRPr sz="1200" b="1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219" name="Rounded Rectangle 21">
              <a:extLst>
                <a:ext uri="{FF2B5EF4-FFF2-40B4-BE49-F238E27FC236}">
                  <a16:creationId xmlns:a16="http://schemas.microsoft.com/office/drawing/2014/main" id="{6B74289B-919F-9FE5-CFE3-20B6BDED8A74}"/>
                </a:ext>
              </a:extLst>
            </p:cNvPr>
            <p:cNvSpPr/>
            <p:nvPr/>
          </p:nvSpPr>
          <p:spPr>
            <a:xfrm>
              <a:off x="4513379" y="5713384"/>
              <a:ext cx="720000" cy="324000"/>
            </a:xfrm>
            <a:prstGeom prst="roundRect">
              <a:avLst>
                <a:gd name="adj" fmla="val 18000"/>
              </a:avLst>
            </a:prstGeom>
            <a:noFill/>
            <a:ln w="15875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18288" rIns="18288" bIns="18288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1200" b="1" dirty="0">
                  <a:solidFill>
                    <a:schemeClr val="accent2">
                      <a:lumMod val="75000"/>
                    </a:schemeClr>
                  </a:solidFill>
                </a:rPr>
                <a:t>S</a:t>
              </a:r>
              <a:r>
                <a:rPr lang="en-US" sz="1200" b="1" baseline="30000" dirty="0">
                  <a:solidFill>
                    <a:schemeClr val="accent2">
                      <a:lumMod val="75000"/>
                    </a:schemeClr>
                  </a:solidFill>
                </a:rPr>
                <a:t>0</a:t>
              </a:r>
            </a:p>
          </p:txBody>
        </p:sp>
      </p:grpSp>
      <p:sp>
        <p:nvSpPr>
          <p:cNvPr id="221" name="四角形: 角を丸くする 220">
            <a:extLst>
              <a:ext uri="{FF2B5EF4-FFF2-40B4-BE49-F238E27FC236}">
                <a16:creationId xmlns:a16="http://schemas.microsoft.com/office/drawing/2014/main" id="{41F4CA4E-E661-F118-7377-F73E871D7066}"/>
              </a:ext>
            </a:extLst>
          </p:cNvPr>
          <p:cNvSpPr/>
          <p:nvPr/>
        </p:nvSpPr>
        <p:spPr>
          <a:xfrm>
            <a:off x="1135627" y="6417323"/>
            <a:ext cx="648000" cy="324000"/>
          </a:xfrm>
          <a:prstGeom prst="roundRect">
            <a:avLst/>
          </a:prstGeom>
          <a:noFill/>
          <a:ln w="15875">
            <a:solidFill>
              <a:srgbClr val="2E5F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200" b="1" dirty="0">
                <a:solidFill>
                  <a:srgbClr val="2E5FC0"/>
                </a:solidFill>
              </a:rPr>
              <a:t>CaO</a:t>
            </a:r>
          </a:p>
        </p:txBody>
      </p:sp>
      <p:sp>
        <p:nvSpPr>
          <p:cNvPr id="941" name="arc941"/>
          <p:cNvSpPr/>
          <p:nvPr/>
        </p:nvSpPr>
        <p:spPr>
          <a:xfrm>
            <a:off x="4010025" y="1028700"/>
            <a:ext cx="361950" cy="304800"/>
          </a:xfrm>
          <a:prstGeom prst="arc">
            <a:avLst>
              <a:gd name="adj1" fmla="val 5400000"/>
              <a:gd name="adj2" fmla="val 16200000"/>
            </a:avLst>
          </a:prstGeom>
          <a:noFill/>
          <a:ln w="19050">
            <a:solidFill>
              <a:srgbClr val="2E5B9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42" name="arc942"/>
          <p:cNvSpPr>
            <a:spLocks noChangeAspect="1"/>
          </p:cNvSpPr>
          <p:nvPr/>
        </p:nvSpPr>
        <p:spPr>
          <a:xfrm>
            <a:off x="4010025" y="1028700"/>
            <a:ext cx="361950" cy="304800"/>
          </a:xfrm>
          <a:prstGeom prst="arc">
            <a:avLst>
              <a:gd name="adj1" fmla="val 16200000"/>
              <a:gd name="adj2" fmla="val 5400000"/>
            </a:avLst>
          </a:prstGeom>
          <a:noFill/>
          <a:ln w="19050">
            <a:solidFill>
              <a:srgbClr val="2E5B9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80" name="ff980"/>
          <p:cNvSpPr/>
          <p:nvPr/>
        </p:nvSpPr>
        <p:spPr>
          <a:xfrm>
            <a:off x="1460500" y="3860800"/>
            <a:ext cx="5549900" cy="279400"/>
          </a:xfrm>
          <a:custGeom>
            <a:avLst/>
            <a:gdLst/>
            <a:ahLst/>
            <a:cxnLst/>
            <a:rect l="0" t="0" r="5549900" b="279400"/>
            <a:pathLst>
              <a:path w="5549900" h="279400" fill="none">
                <a:moveTo>
                  <a:pt x="5549900" y="101600"/>
                </a:moveTo>
                <a:lnTo>
                  <a:pt x="5549900" y="279400"/>
                </a:lnTo>
                <a:lnTo>
                  <a:pt x="0" y="2794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81" name="ff981"/>
          <p:cNvSpPr/>
          <p:nvPr/>
        </p:nvSpPr>
        <p:spPr>
          <a:xfrm>
            <a:off x="7708900" y="5232400"/>
            <a:ext cx="2171700" cy="609600"/>
          </a:xfrm>
          <a:custGeom>
            <a:avLst/>
            <a:gdLst/>
            <a:ahLst/>
            <a:cxnLst/>
            <a:rect l="0" t="0" r="2171700" b="609600"/>
            <a:pathLst>
              <a:path w="2171700" h="609600" fill="none">
                <a:moveTo>
                  <a:pt x="0" y="0"/>
                </a:moveTo>
                <a:lnTo>
                  <a:pt x="0" y="419100"/>
                </a:lnTo>
                <a:lnTo>
                  <a:pt x="2171700" y="419100"/>
                </a:lnTo>
                <a:lnTo>
                  <a:pt x="2171700" y="60960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82" name="ff982"/>
          <p:cNvSpPr/>
          <p:nvPr/>
        </p:nvSpPr>
        <p:spPr>
          <a:xfrm>
            <a:off x="8991600" y="4953000"/>
            <a:ext cx="1778000" cy="12700"/>
          </a:xfrm>
          <a:custGeom>
            <a:avLst/>
            <a:gdLst/>
            <a:ahLst/>
            <a:cxnLst/>
            <a:rect l="0" t="0" r="1778000" b="12700"/>
            <a:pathLst>
              <a:path w="1778000" h="12700" fill="none">
                <a:moveTo>
                  <a:pt x="0" y="0"/>
                </a:moveTo>
                <a:lnTo>
                  <a:pt x="1778000" y="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83" name="ff983"/>
          <p:cNvSpPr/>
          <p:nvPr/>
        </p:nvSpPr>
        <p:spPr>
          <a:xfrm>
            <a:off x="8991600" y="1371600"/>
            <a:ext cx="254000" cy="12700"/>
          </a:xfrm>
          <a:custGeom>
            <a:avLst/>
            <a:gdLst/>
            <a:ahLst/>
            <a:cxnLst/>
            <a:rect l="0" t="0" r="254000" b="12700"/>
            <a:pathLst>
              <a:path w="254000" h="12700" fill="none">
                <a:moveTo>
                  <a:pt x="2540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ED7D31"/>
            </a:solidFill>
            <a:prstDash val="dash"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84" name="ff984"/>
          <p:cNvSpPr/>
          <p:nvPr/>
        </p:nvSpPr>
        <p:spPr>
          <a:xfrm>
            <a:off x="3390900" y="2819400"/>
            <a:ext cx="139700" cy="431800"/>
          </a:xfrm>
          <a:custGeom>
            <a:avLst/>
            <a:gdLst/>
            <a:ahLst/>
            <a:cxnLst/>
            <a:rect l="0" t="0" r="139700" b="431800"/>
            <a:pathLst>
              <a:path w="139700" h="431800" fill="none">
                <a:moveTo>
                  <a:pt x="0" y="431800"/>
                </a:moveTo>
                <a:lnTo>
                  <a:pt x="139700" y="431800"/>
                </a:lnTo>
                <a:lnTo>
                  <a:pt x="1397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548235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85" name="ff985"/>
          <p:cNvSpPr/>
          <p:nvPr/>
        </p:nvSpPr>
        <p:spPr>
          <a:xfrm>
            <a:off x="3606800" y="3111500"/>
            <a:ext cx="139700" cy="419100"/>
          </a:xfrm>
          <a:custGeom>
            <a:avLst/>
            <a:gdLst/>
            <a:ahLst/>
            <a:cxnLst/>
            <a:rect l="0" t="0" r="139700" b="419100"/>
            <a:pathLst>
              <a:path w="139700" h="419100" fill="none">
                <a:moveTo>
                  <a:pt x="139700" y="0"/>
                </a:moveTo>
                <a:lnTo>
                  <a:pt x="0" y="0"/>
                </a:lnTo>
                <a:lnTo>
                  <a:pt x="0" y="419100"/>
                </a:lnTo>
                <a:lnTo>
                  <a:pt x="139700" y="419100"/>
                </a:lnTo>
              </a:path>
            </a:pathLst>
          </a:custGeom>
          <a:noFill/>
          <a:ln w="19050">
            <a:solidFill>
              <a:srgbClr val="B8860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0" name="ff920"/>
          <p:cNvSpPr/>
          <p:nvPr/>
        </p:nvSpPr>
        <p:spPr>
          <a:xfrm>
            <a:off x="7010400" y="1943100"/>
            <a:ext cx="12700" cy="1231900"/>
          </a:xfrm>
          <a:custGeom>
            <a:avLst/>
            <a:gdLst/>
            <a:ahLst/>
            <a:cxnLst/>
            <a:rect l="0" t="0" r="12700" b="1231900"/>
            <a:pathLst>
              <a:path w="12700" h="1231900" fill="none">
                <a:moveTo>
                  <a:pt x="0" y="0"/>
                </a:moveTo>
                <a:lnTo>
                  <a:pt x="0" y="123190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1" name="ff921"/>
          <p:cNvSpPr/>
          <p:nvPr/>
        </p:nvSpPr>
        <p:spPr>
          <a:xfrm>
            <a:off x="8991600" y="1549400"/>
            <a:ext cx="254000" cy="1092200"/>
          </a:xfrm>
          <a:custGeom>
            <a:avLst/>
            <a:gdLst/>
            <a:ahLst/>
            <a:cxnLst/>
            <a:rect l="0" t="0" r="254000" b="1092200"/>
            <a:pathLst>
              <a:path w="254000" h="1092200" fill="none">
                <a:moveTo>
                  <a:pt x="0" y="0"/>
                </a:moveTo>
                <a:lnTo>
                  <a:pt x="127000" y="0"/>
                </a:lnTo>
                <a:lnTo>
                  <a:pt x="127000" y="1092200"/>
                </a:lnTo>
                <a:lnTo>
                  <a:pt x="254000" y="109220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2" name="ff922"/>
          <p:cNvSpPr/>
          <p:nvPr/>
        </p:nvSpPr>
        <p:spPr>
          <a:xfrm>
            <a:off x="10502900" y="1803400"/>
            <a:ext cx="241300" cy="1041400"/>
          </a:xfrm>
          <a:custGeom>
            <a:avLst/>
            <a:gdLst/>
            <a:ahLst/>
            <a:cxnLst/>
            <a:rect l="0" t="0" r="241300" b="1041400"/>
            <a:pathLst>
              <a:path w="241300" h="1041400" fill="none">
                <a:moveTo>
                  <a:pt x="241300" y="0"/>
                </a:moveTo>
                <a:lnTo>
                  <a:pt x="114300" y="0"/>
                </a:lnTo>
                <a:lnTo>
                  <a:pt x="114300" y="1041400"/>
                </a:lnTo>
                <a:lnTo>
                  <a:pt x="0" y="104140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3" name="ff923"/>
          <p:cNvSpPr/>
          <p:nvPr/>
        </p:nvSpPr>
        <p:spPr>
          <a:xfrm>
            <a:off x="6286500" y="2527300"/>
            <a:ext cx="2959100" cy="317500"/>
          </a:xfrm>
          <a:custGeom>
            <a:avLst/>
            <a:gdLst/>
            <a:ahLst/>
            <a:cxnLst/>
            <a:rect l="0" t="0" r="2959100" b="317500"/>
            <a:pathLst>
              <a:path w="2959100" h="317500" fill="none">
                <a:moveTo>
                  <a:pt x="2959100" y="317500"/>
                </a:moveTo>
                <a:lnTo>
                  <a:pt x="1473200" y="317500"/>
                </a:lnTo>
                <a:lnTo>
                  <a:pt x="14732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4" name="ff924"/>
          <p:cNvSpPr/>
          <p:nvPr/>
        </p:nvSpPr>
        <p:spPr>
          <a:xfrm>
            <a:off x="5651500" y="2921000"/>
            <a:ext cx="12700" cy="254000"/>
          </a:xfrm>
          <a:custGeom>
            <a:avLst/>
            <a:gdLst/>
            <a:ahLst/>
            <a:cxnLst/>
            <a:rect l="0" t="0" r="12700" b="254000"/>
            <a:pathLst>
              <a:path w="12700" h="254000" fill="none">
                <a:moveTo>
                  <a:pt x="0" y="0"/>
                </a:moveTo>
                <a:lnTo>
                  <a:pt x="0" y="25400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5" name="ff925"/>
          <p:cNvSpPr/>
          <p:nvPr/>
        </p:nvSpPr>
        <p:spPr>
          <a:xfrm>
            <a:off x="8991600" y="3238500"/>
            <a:ext cx="876300" cy="330200"/>
          </a:xfrm>
          <a:custGeom>
            <a:avLst/>
            <a:gdLst/>
            <a:ahLst/>
            <a:cxnLst/>
            <a:rect l="0" t="0" r="876300" b="330200"/>
            <a:pathLst>
              <a:path w="876300" h="330200" fill="none">
                <a:moveTo>
                  <a:pt x="0" y="330200"/>
                </a:moveTo>
                <a:lnTo>
                  <a:pt x="876300" y="330200"/>
                </a:lnTo>
                <a:lnTo>
                  <a:pt x="876300" y="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6" name="ff926"/>
          <p:cNvSpPr/>
          <p:nvPr/>
        </p:nvSpPr>
        <p:spPr>
          <a:xfrm>
            <a:off x="3390900" y="1752600"/>
            <a:ext cx="1638300" cy="635000"/>
          </a:xfrm>
          <a:custGeom>
            <a:avLst/>
            <a:gdLst/>
            <a:ahLst/>
            <a:cxnLst/>
            <a:rect l="0" t="0" r="1638300" b="635000"/>
            <a:pathLst>
              <a:path w="1638300" h="635000" fill="none">
                <a:moveTo>
                  <a:pt x="0" y="635000"/>
                </a:moveTo>
                <a:lnTo>
                  <a:pt x="1358900" y="635000"/>
                </a:lnTo>
                <a:lnTo>
                  <a:pt x="1358900" y="0"/>
                </a:lnTo>
                <a:lnTo>
                  <a:pt x="1638300" y="0"/>
                </a:lnTo>
              </a:path>
            </a:pathLst>
          </a:custGeom>
          <a:noFill/>
          <a:ln w="19050">
            <a:solidFill>
              <a:srgbClr val="548235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7" name="ff927"/>
          <p:cNvSpPr/>
          <p:nvPr/>
        </p:nvSpPr>
        <p:spPr>
          <a:xfrm>
            <a:off x="3390900" y="2184400"/>
            <a:ext cx="1638300" cy="76200"/>
          </a:xfrm>
          <a:custGeom>
            <a:avLst/>
            <a:gdLst/>
            <a:ahLst/>
            <a:cxnLst/>
            <a:rect l="0" t="0" r="1638300" b="76200"/>
            <a:pathLst>
              <a:path w="1638300" h="76200" fill="none">
                <a:moveTo>
                  <a:pt x="1638300" y="76200"/>
                </a:moveTo>
                <a:lnTo>
                  <a:pt x="812800" y="76200"/>
                </a:lnTo>
                <a:lnTo>
                  <a:pt x="8128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548235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8" name="ff928"/>
          <p:cNvSpPr/>
          <p:nvPr/>
        </p:nvSpPr>
        <p:spPr>
          <a:xfrm>
            <a:off x="4508500" y="1549400"/>
            <a:ext cx="520700" cy="12700"/>
          </a:xfrm>
          <a:custGeom>
            <a:avLst/>
            <a:gdLst/>
            <a:ahLst/>
            <a:cxnLst/>
            <a:rect l="0" t="0" r="520700" b="12700"/>
            <a:pathLst>
              <a:path w="520700" h="12700" fill="none">
                <a:moveTo>
                  <a:pt x="5207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2E5B96"/>
            </a:solidFill>
            <a:headEnd type="triangle" w="med" len="med"/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29" name="ff929"/>
          <p:cNvSpPr/>
          <p:nvPr/>
        </p:nvSpPr>
        <p:spPr>
          <a:xfrm>
            <a:off x="4381500" y="1727200"/>
            <a:ext cx="647700" cy="800100"/>
          </a:xfrm>
          <a:custGeom>
            <a:avLst/>
            <a:gdLst/>
            <a:ahLst/>
            <a:cxnLst/>
            <a:rect l="0" t="0" r="647700" b="800100"/>
            <a:pathLst>
              <a:path w="647700" h="800100" fill="none">
                <a:moveTo>
                  <a:pt x="0" y="0"/>
                </a:moveTo>
                <a:lnTo>
                  <a:pt x="317500" y="0"/>
                </a:lnTo>
                <a:lnTo>
                  <a:pt x="317500" y="800100"/>
                </a:lnTo>
                <a:lnTo>
                  <a:pt x="647700" y="800100"/>
                </a:lnTo>
              </a:path>
            </a:pathLst>
          </a:custGeom>
          <a:noFill/>
          <a:ln w="19050">
            <a:solidFill>
              <a:srgbClr val="2E5B9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30" name="ff930"/>
          <p:cNvSpPr/>
          <p:nvPr/>
        </p:nvSpPr>
        <p:spPr>
          <a:xfrm>
            <a:off x="4191000" y="1727200"/>
            <a:ext cx="12700" cy="901700"/>
          </a:xfrm>
          <a:custGeom>
            <a:avLst/>
            <a:gdLst/>
            <a:ahLst/>
            <a:cxnLst/>
            <a:rect l="0" t="0" r="12700" b="901700"/>
            <a:pathLst>
              <a:path w="12700" h="901700" fill="none">
                <a:moveTo>
                  <a:pt x="0" y="0"/>
                </a:moveTo>
                <a:lnTo>
                  <a:pt x="0" y="901700"/>
                </a:lnTo>
              </a:path>
            </a:pathLst>
          </a:custGeom>
          <a:noFill/>
          <a:ln w="19050">
            <a:solidFill>
              <a:srgbClr val="2E5B9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31" name="ff931"/>
          <p:cNvSpPr/>
          <p:nvPr/>
        </p:nvSpPr>
        <p:spPr>
          <a:xfrm>
            <a:off x="4660900" y="2717800"/>
            <a:ext cx="368300" cy="533400"/>
          </a:xfrm>
          <a:custGeom>
            <a:avLst/>
            <a:gdLst/>
            <a:ahLst/>
            <a:cxnLst/>
            <a:rect l="0" t="0" r="368300" b="533400"/>
            <a:pathLst>
              <a:path w="368300" h="533400" fill="none">
                <a:moveTo>
                  <a:pt x="368300" y="0"/>
                </a:moveTo>
                <a:lnTo>
                  <a:pt x="165100" y="0"/>
                </a:lnTo>
                <a:lnTo>
                  <a:pt x="165100" y="533400"/>
                </a:lnTo>
                <a:lnTo>
                  <a:pt x="0" y="533400"/>
                </a:lnTo>
              </a:path>
            </a:pathLst>
          </a:custGeom>
          <a:noFill/>
          <a:ln w="19050">
            <a:solidFill>
              <a:srgbClr val="B8860B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36" name="ff936"/>
          <p:cNvSpPr/>
          <p:nvPr/>
        </p:nvSpPr>
        <p:spPr>
          <a:xfrm>
            <a:off x="584200" y="3403600"/>
            <a:ext cx="558800" cy="292100"/>
          </a:xfrm>
          <a:custGeom>
            <a:avLst/>
            <a:gdLst/>
            <a:ahLst/>
            <a:cxnLst/>
            <a:rect l="0" t="0" r="558800" b="292100"/>
            <a:pathLst>
              <a:path w="558800" h="292100" fill="none">
                <a:moveTo>
                  <a:pt x="558800" y="292100"/>
                </a:moveTo>
                <a:lnTo>
                  <a:pt x="0" y="2921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37" name="ff937"/>
          <p:cNvSpPr/>
          <p:nvPr/>
        </p:nvSpPr>
        <p:spPr>
          <a:xfrm>
            <a:off x="571500" y="1726788"/>
            <a:ext cx="12700" cy="504000"/>
          </a:xfrm>
          <a:custGeom>
            <a:avLst/>
            <a:gdLst/>
            <a:ahLst/>
            <a:cxnLst/>
            <a:rect l="0" t="0" r="12700" b="609600"/>
            <a:pathLst>
              <a:path w="12700" h="609600" fill="none">
                <a:moveTo>
                  <a:pt x="0" y="60960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51" name="ff951"/>
          <p:cNvSpPr/>
          <p:nvPr/>
        </p:nvSpPr>
        <p:spPr>
          <a:xfrm>
            <a:off x="8636000" y="1943100"/>
            <a:ext cx="2108200" cy="88900"/>
          </a:xfrm>
          <a:custGeom>
            <a:avLst/>
            <a:gdLst/>
            <a:ahLst/>
            <a:cxnLst/>
            <a:rect l="0" t="0" r="2108200" b="88900"/>
            <a:pathLst>
              <a:path w="2108200" h="88900" fill="none">
                <a:moveTo>
                  <a:pt x="0" y="0"/>
                </a:moveTo>
                <a:lnTo>
                  <a:pt x="0" y="88900"/>
                </a:lnTo>
                <a:lnTo>
                  <a:pt x="2108200" y="8890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53" name="ff953"/>
          <p:cNvSpPr/>
          <p:nvPr/>
        </p:nvSpPr>
        <p:spPr>
          <a:xfrm>
            <a:off x="3390900" y="2540000"/>
            <a:ext cx="1638300" cy="1028700"/>
          </a:xfrm>
          <a:custGeom>
            <a:avLst/>
            <a:gdLst/>
            <a:ahLst/>
            <a:cxnLst/>
            <a:rect l="0" t="0" r="1638300" b="1028700"/>
            <a:pathLst>
              <a:path w="1638300" h="1028700" fill="none">
                <a:moveTo>
                  <a:pt x="1638300" y="1028700"/>
                </a:moveTo>
                <a:lnTo>
                  <a:pt x="1435100" y="1028700"/>
                </a:lnTo>
                <a:lnTo>
                  <a:pt x="14351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548235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60" name="ff960"/>
          <p:cNvSpPr/>
          <p:nvPr/>
        </p:nvSpPr>
        <p:spPr>
          <a:xfrm>
            <a:off x="11379200" y="2197100"/>
            <a:ext cx="12700" cy="2578100"/>
          </a:xfrm>
          <a:custGeom>
            <a:avLst/>
            <a:gdLst/>
            <a:ahLst/>
            <a:cxnLst/>
            <a:rect l="0" t="0" r="12700" b="2578100"/>
            <a:pathLst>
              <a:path w="12700" h="2578100" fill="none">
                <a:moveTo>
                  <a:pt x="0" y="0"/>
                </a:moveTo>
                <a:lnTo>
                  <a:pt x="0" y="2578100"/>
                </a:lnTo>
              </a:path>
            </a:pathLst>
          </a:custGeom>
          <a:noFill/>
          <a:ln w="22225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61" name="ff961"/>
          <p:cNvSpPr/>
          <p:nvPr/>
        </p:nvSpPr>
        <p:spPr>
          <a:xfrm>
            <a:off x="2933700" y="3467100"/>
            <a:ext cx="12700" cy="1054100"/>
          </a:xfrm>
          <a:custGeom>
            <a:avLst/>
            <a:gdLst/>
            <a:ahLst/>
            <a:cxnLst/>
            <a:rect l="0" t="0" r="12700" b="1054100"/>
            <a:pathLst>
              <a:path w="12700" h="1054100" fill="none">
                <a:moveTo>
                  <a:pt x="0" y="1054100"/>
                </a:moveTo>
                <a:lnTo>
                  <a:pt x="0" y="0"/>
                </a:lnTo>
              </a:path>
            </a:pathLst>
          </a:custGeom>
          <a:noFill/>
          <a:ln w="22225">
            <a:solidFill>
              <a:srgbClr val="548235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70" name="ff970"/>
          <p:cNvSpPr/>
          <p:nvPr/>
        </p:nvSpPr>
        <p:spPr>
          <a:xfrm>
            <a:off x="10515600" y="5562600"/>
            <a:ext cx="876300" cy="673100"/>
          </a:xfrm>
          <a:custGeom>
            <a:avLst/>
            <a:gdLst/>
            <a:ahLst/>
            <a:cxnLst/>
            <a:rect l="0" t="0" r="876300" b="673100"/>
            <a:pathLst>
              <a:path w="876300" h="673100" fill="none">
                <a:moveTo>
                  <a:pt x="876300" y="0"/>
                </a:moveTo>
                <a:lnTo>
                  <a:pt x="876300" y="673100"/>
                </a:lnTo>
                <a:lnTo>
                  <a:pt x="0" y="67310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71" name="ff971"/>
          <p:cNvSpPr/>
          <p:nvPr/>
        </p:nvSpPr>
        <p:spPr>
          <a:xfrm>
            <a:off x="6286500" y="5854700"/>
            <a:ext cx="2971800" cy="381000"/>
          </a:xfrm>
          <a:custGeom>
            <a:avLst/>
            <a:gdLst/>
            <a:ahLst/>
            <a:cxnLst/>
            <a:rect l="0" t="0" r="2971800" b="381000"/>
            <a:pathLst>
              <a:path w="2971800" h="381000" fill="none">
                <a:moveTo>
                  <a:pt x="2971800" y="381000"/>
                </a:moveTo>
                <a:lnTo>
                  <a:pt x="1485900" y="381000"/>
                </a:lnTo>
                <a:lnTo>
                  <a:pt x="14859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72" name="ff972"/>
          <p:cNvSpPr/>
          <p:nvPr/>
        </p:nvSpPr>
        <p:spPr>
          <a:xfrm>
            <a:off x="3390900" y="5207000"/>
            <a:ext cx="1638300" cy="647700"/>
          </a:xfrm>
          <a:custGeom>
            <a:avLst/>
            <a:gdLst/>
            <a:ahLst/>
            <a:cxnLst/>
            <a:rect l="0" t="0" r="1638300" b="647700"/>
            <a:pathLst>
              <a:path w="1638300" h="647700" fill="none">
                <a:moveTo>
                  <a:pt x="1638300" y="647700"/>
                </a:moveTo>
                <a:lnTo>
                  <a:pt x="1435100" y="647700"/>
                </a:lnTo>
                <a:lnTo>
                  <a:pt x="14351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548235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73" name="ff973"/>
          <p:cNvSpPr/>
          <p:nvPr/>
        </p:nvSpPr>
        <p:spPr>
          <a:xfrm>
            <a:off x="4508500" y="4914900"/>
            <a:ext cx="1143000" cy="228600"/>
          </a:xfrm>
          <a:custGeom>
            <a:avLst/>
            <a:gdLst/>
            <a:ahLst/>
            <a:cxnLst/>
            <a:rect l="0" t="0" r="1143000" b="228600"/>
            <a:pathLst>
              <a:path w="1143000" h="228600" fill="none">
                <a:moveTo>
                  <a:pt x="0" y="0"/>
                </a:moveTo>
                <a:lnTo>
                  <a:pt x="1143000" y="0"/>
                </a:lnTo>
                <a:lnTo>
                  <a:pt x="1143000" y="228600"/>
                </a:lnTo>
              </a:path>
            </a:pathLst>
          </a:custGeom>
          <a:noFill/>
          <a:ln w="19050">
            <a:solidFill>
              <a:srgbClr val="2E5B9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74" name="ff974"/>
          <p:cNvSpPr/>
          <p:nvPr/>
        </p:nvSpPr>
        <p:spPr>
          <a:xfrm>
            <a:off x="4191000" y="5080000"/>
            <a:ext cx="12700" cy="215900"/>
          </a:xfrm>
          <a:custGeom>
            <a:avLst/>
            <a:gdLst/>
            <a:ahLst/>
            <a:cxnLst/>
            <a:rect l="0" t="0" r="12700" b="215900"/>
            <a:pathLst>
              <a:path w="12700" h="215900" fill="none">
                <a:moveTo>
                  <a:pt x="0" y="0"/>
                </a:moveTo>
                <a:lnTo>
                  <a:pt x="0" y="215900"/>
                </a:lnTo>
              </a:path>
            </a:pathLst>
          </a:custGeom>
          <a:noFill/>
          <a:ln w="19050">
            <a:solidFill>
              <a:srgbClr val="2E5B9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75" name="ff975"/>
          <p:cNvSpPr/>
          <p:nvPr/>
        </p:nvSpPr>
        <p:spPr>
          <a:xfrm>
            <a:off x="8991600" y="4711700"/>
            <a:ext cx="1778000" cy="457200"/>
          </a:xfrm>
          <a:custGeom>
            <a:avLst/>
            <a:gdLst/>
            <a:ahLst/>
            <a:cxnLst/>
            <a:rect l="0" t="0" r="1778000" b="457200"/>
            <a:pathLst>
              <a:path w="1778000" h="457200" fill="none">
                <a:moveTo>
                  <a:pt x="1778000" y="457200"/>
                </a:moveTo>
                <a:lnTo>
                  <a:pt x="889000" y="457200"/>
                </a:lnTo>
                <a:lnTo>
                  <a:pt x="8890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C0393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976" name="ff976"/>
          <p:cNvSpPr/>
          <p:nvPr/>
        </p:nvSpPr>
        <p:spPr>
          <a:xfrm>
            <a:off x="901700" y="6210300"/>
            <a:ext cx="546100" cy="203200"/>
          </a:xfrm>
          <a:custGeom>
            <a:avLst/>
            <a:gdLst/>
            <a:ahLst/>
            <a:cxnLst/>
            <a:rect l="0" t="0" r="546100" b="203200"/>
            <a:pathLst>
              <a:path w="546100" h="203200" fill="none">
                <a:moveTo>
                  <a:pt x="546100" y="203200"/>
                </a:moveTo>
                <a:lnTo>
                  <a:pt x="546100" y="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595959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6" name="arc941">
            <a:extLst>
              <a:ext uri="{FF2B5EF4-FFF2-40B4-BE49-F238E27FC236}">
                <a16:creationId xmlns:a16="http://schemas.microsoft.com/office/drawing/2014/main" id="{6627D720-6E8C-3BA4-4A8F-43EC2E6D59CC}"/>
              </a:ext>
            </a:extLst>
          </p:cNvPr>
          <p:cNvSpPr/>
          <p:nvPr/>
        </p:nvSpPr>
        <p:spPr>
          <a:xfrm>
            <a:off x="390526" y="1029600"/>
            <a:ext cx="361950" cy="304800"/>
          </a:xfrm>
          <a:prstGeom prst="arc">
            <a:avLst>
              <a:gd name="adj1" fmla="val 5400000"/>
              <a:gd name="adj2" fmla="val 16200000"/>
            </a:avLst>
          </a:prstGeom>
          <a:noFill/>
          <a:ln w="19050">
            <a:solidFill>
              <a:srgbClr val="2E5B9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  <p:sp>
        <p:nvSpPr>
          <p:cNvPr id="8" name="arc942">
            <a:extLst>
              <a:ext uri="{FF2B5EF4-FFF2-40B4-BE49-F238E27FC236}">
                <a16:creationId xmlns:a16="http://schemas.microsoft.com/office/drawing/2014/main" id="{617C5FFF-019F-BCE6-F14B-287793A94D73}"/>
              </a:ext>
            </a:extLst>
          </p:cNvPr>
          <p:cNvSpPr>
            <a:spLocks noChangeAspect="1"/>
          </p:cNvSpPr>
          <p:nvPr/>
        </p:nvSpPr>
        <p:spPr>
          <a:xfrm>
            <a:off x="390526" y="1029600"/>
            <a:ext cx="361950" cy="304800"/>
          </a:xfrm>
          <a:prstGeom prst="arc">
            <a:avLst>
              <a:gd name="adj1" fmla="val 16200000"/>
              <a:gd name="adj2" fmla="val 5400000"/>
            </a:avLst>
          </a:prstGeom>
          <a:noFill/>
          <a:ln w="19050">
            <a:solidFill>
              <a:srgbClr val="2E5B96"/>
            </a:solidFill>
            <a:tailEnd type="triangle" w="med" len="me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8040307"/>
      </p:ext>
    </p:extLst>
  </p:cSld>
  <p:clrMapOvr>
    <a:masterClrMapping/>
  </p:clrMapOvr>
</p:sld>
</file>

<file path=ppt/theme/theme1.xml><?xml version="1.0" encoding="utf-8"?>
<a:theme xmlns:a="http://schemas.openxmlformats.org/drawingml/2006/main" name="1_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sasaki-lab_template_2024.potx" id="{DE4770AB-2ED5-45D3-9BD6-1EC6635CBCEA}" vid="{D1FB16F2-30E7-43DC-9455-B40F18EBD8CE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B33ED81-A378-482E-B710-0D21A32023B2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研究発表用テンプレート2022版</Template>
  <TotalTime>9970</TotalTime>
  <Words>124</Words>
  <Application>Microsoft Office PowerPoint</Application>
  <PresentationFormat>ワイド画面</PresentationFormat>
  <Paragraphs>77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游ゴシック</vt:lpstr>
      <vt:lpstr>游ゴシック Medium</vt:lpstr>
      <vt:lpstr>Arial</vt:lpstr>
      <vt:lpstr>Segoe UI</vt:lpstr>
      <vt:lpstr>Symbol</vt:lpstr>
      <vt:lpstr>Wingdings</vt:lpstr>
      <vt:lpstr>1_研究発表スライドマスタ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佐々木　淳</dc:creator>
  <cp:lastModifiedBy>佐々木　淳</cp:lastModifiedBy>
  <cp:revision>781</cp:revision>
  <cp:lastPrinted>2026-09-08T07:04:05Z</cp:lastPrinted>
  <dcterms:created xsi:type="dcterms:W3CDTF">2023-05-06T04:35:47Z</dcterms:created>
  <dcterms:modified xsi:type="dcterms:W3CDTF">2026-09-15T10:35:34Z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